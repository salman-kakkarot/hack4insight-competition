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League Spartan" panose="020B0604020202020204" charset="0"/>
      <p:regular r:id="rId12"/>
    </p:embeddedFont>
    <p:embeddedFont>
      <p:font typeface="Poppins" panose="00000500000000000000" pitchFamily="2" charset="0"/>
      <p:regular r:id="rId13"/>
    </p:embeddedFont>
    <p:embeddedFont>
      <p:font typeface="Poppins Bold" panose="020B0604020202020204" charset="0"/>
      <p:regular r:id="rId14"/>
    </p:embeddedFont>
    <p:embeddedFont>
      <p:font typeface="Times New Roman Bold" panose="02020803070505020304" pitchFamily="18" charset="0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130300" y="4057750"/>
            <a:ext cx="3086100" cy="2171499"/>
            <a:chOff x="0" y="0"/>
            <a:chExt cx="812800" cy="5719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8275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812800" cy="629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467343" y="4057750"/>
            <a:ext cx="3086100" cy="2171499"/>
            <a:chOff x="0" y="0"/>
            <a:chExt cx="812800" cy="5719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8275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812800" cy="629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220957" y="4506120"/>
            <a:ext cx="9846085" cy="1418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72"/>
              </a:lnSpc>
            </a:pPr>
            <a:r>
              <a:rPr lang="en-US" sz="8265" b="1">
                <a:solidFill>
                  <a:srgbClr val="38275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PRESENTATION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323004" y="3509798"/>
            <a:ext cx="5641992" cy="932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4"/>
              </a:lnSpc>
            </a:pPr>
            <a:r>
              <a:rPr lang="en-US" sz="5303" b="1">
                <a:solidFill>
                  <a:srgbClr val="30364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MODEL MINDS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10497" y="5852404"/>
            <a:ext cx="8771756" cy="79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 b="1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“Big data is at the foundation of all the megatrends that are happening today</a:t>
            </a: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, from social to mobile to cloud to gaming.”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2750" y="962025"/>
            <a:ext cx="17241218" cy="308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67"/>
              </a:lnSpc>
            </a:pPr>
            <a:endParaRPr dirty="0"/>
          </a:p>
          <a:p>
            <a:pPr algn="ctr">
              <a:lnSpc>
                <a:spcPts val="5067"/>
              </a:lnSpc>
            </a:pPr>
            <a:r>
              <a:rPr lang="en-US" sz="3619" b="1" dirty="0">
                <a:solidFill>
                  <a:srgbClr val="38275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E-Commerce Growth &amp; Conversion Intelligence</a:t>
            </a:r>
          </a:p>
          <a:p>
            <a:pPr algn="ctr">
              <a:lnSpc>
                <a:spcPts val="4060"/>
              </a:lnSpc>
            </a:pPr>
            <a:r>
              <a:rPr lang="en-US" sz="2900" b="1" dirty="0" err="1">
                <a:solidFill>
                  <a:srgbClr val="382752"/>
                </a:solidFill>
                <a:latin typeface="Poppins Bold"/>
                <a:ea typeface="Poppins Bold"/>
                <a:cs typeface="Poppins Bold"/>
                <a:sym typeface="Poppins Bold"/>
              </a:rPr>
              <a:t>CasE</a:t>
            </a:r>
            <a:r>
              <a:rPr lang="en-US" sz="2900" b="1" dirty="0">
                <a:solidFill>
                  <a:srgbClr val="382752"/>
                </a:solidFill>
                <a:latin typeface="Poppins Bold"/>
                <a:ea typeface="Poppins Bold"/>
                <a:cs typeface="Poppins Bold"/>
                <a:sym typeface="Poppins Bold"/>
              </a:rPr>
              <a:t> Study :- </a:t>
            </a:r>
            <a:r>
              <a:rPr lang="en-US" sz="2900" b="1" dirty="0" err="1">
                <a:solidFill>
                  <a:srgbClr val="382752"/>
                </a:solidFill>
                <a:latin typeface="Poppins Bold"/>
                <a:ea typeface="Poppins Bold"/>
                <a:cs typeface="Poppins Bold"/>
                <a:sym typeface="Poppins Bold"/>
              </a:rPr>
              <a:t>BearCart</a:t>
            </a:r>
            <a:r>
              <a:rPr lang="en-US" sz="2900" b="1" dirty="0">
                <a:solidFill>
                  <a:srgbClr val="382752"/>
                </a:solidFill>
                <a:latin typeface="Poppins Bold"/>
                <a:ea typeface="Poppins Bold"/>
                <a:cs typeface="Poppins Bold"/>
                <a:sym typeface="Poppins Bold"/>
              </a:rPr>
              <a:t> (</a:t>
            </a:r>
            <a:r>
              <a:rPr lang="en-US" sz="2900" b="1">
                <a:solidFill>
                  <a:srgbClr val="382752"/>
                </a:solidFill>
                <a:latin typeface="Poppins Bold"/>
                <a:ea typeface="Poppins Bold"/>
                <a:cs typeface="Poppins Bold"/>
                <a:sym typeface="Poppins Bold"/>
              </a:rPr>
              <a:t>E-Commerce Company) </a:t>
            </a:r>
            <a:endParaRPr lang="en-US" sz="2900" b="1" dirty="0">
              <a:solidFill>
                <a:srgbClr val="382752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5067"/>
              </a:lnSpc>
            </a:pPr>
            <a:endParaRPr lang="en-US" sz="2900" b="1" dirty="0">
              <a:solidFill>
                <a:srgbClr val="382752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5067"/>
              </a:lnSpc>
            </a:pPr>
            <a:endParaRPr lang="en-US" sz="2900" b="1" dirty="0">
              <a:solidFill>
                <a:srgbClr val="382752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88431" y="8872086"/>
            <a:ext cx="4087238" cy="1156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10"/>
              </a:lnSpc>
            </a:pPr>
            <a:r>
              <a:rPr lang="en-US" sz="3721">
                <a:solidFill>
                  <a:srgbClr val="3036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College Name:</a:t>
            </a:r>
          </a:p>
          <a:p>
            <a:pPr algn="l">
              <a:lnSpc>
                <a:spcPts val="3895"/>
              </a:lnSpc>
            </a:pPr>
            <a:r>
              <a:rPr lang="en-US" sz="2782">
                <a:solidFill>
                  <a:srgbClr val="3036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Imarticus Learing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801786" y="6810093"/>
            <a:ext cx="4448114" cy="4740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242"/>
              </a:lnSpc>
            </a:pPr>
            <a:r>
              <a:rPr lang="en-US" sz="4210" spc="-46">
                <a:solidFill>
                  <a:srgbClr val="3036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</a:t>
            </a:r>
          </a:p>
          <a:p>
            <a:pPr algn="just">
              <a:lnSpc>
                <a:spcPts val="3802"/>
              </a:lnSpc>
            </a:pPr>
            <a:r>
              <a:rPr lang="en-US" sz="2210" spc="-24">
                <a:solidFill>
                  <a:srgbClr val="3036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Salman Shaikh       –  Main Brain</a:t>
            </a:r>
          </a:p>
          <a:p>
            <a:pPr algn="just">
              <a:lnSpc>
                <a:spcPts val="3802"/>
              </a:lnSpc>
            </a:pPr>
            <a:r>
              <a:rPr lang="en-US" sz="2210" spc="-24">
                <a:solidFill>
                  <a:srgbClr val="3036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Dhruvi Parekh        –  Sharp thinker</a:t>
            </a:r>
          </a:p>
          <a:p>
            <a:pPr algn="just">
              <a:lnSpc>
                <a:spcPts val="3802"/>
              </a:lnSpc>
            </a:pPr>
            <a:r>
              <a:rPr lang="en-US" sz="2210" spc="-24">
                <a:solidFill>
                  <a:srgbClr val="3036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Vyanka tRathod      –  Code mind</a:t>
            </a:r>
          </a:p>
          <a:p>
            <a:pPr algn="just">
              <a:lnSpc>
                <a:spcPts val="3802"/>
              </a:lnSpc>
            </a:pPr>
            <a:r>
              <a:rPr lang="en-US" sz="2210" spc="-24">
                <a:solidFill>
                  <a:srgbClr val="3036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Lokendra Khadka   –  Analyzing king</a:t>
            </a:r>
          </a:p>
          <a:p>
            <a:pPr algn="just">
              <a:lnSpc>
                <a:spcPts val="3802"/>
              </a:lnSpc>
            </a:pPr>
            <a:r>
              <a:rPr lang="en-US" sz="2210" spc="-24">
                <a:solidFill>
                  <a:srgbClr val="3036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Suraj Nirgun            –  Debugging king </a:t>
            </a:r>
          </a:p>
          <a:p>
            <a:pPr algn="just">
              <a:lnSpc>
                <a:spcPts val="3802"/>
              </a:lnSpc>
            </a:pPr>
            <a:r>
              <a:rPr lang="en-US" sz="2210" spc="-24">
                <a:solidFill>
                  <a:srgbClr val="30364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just">
              <a:lnSpc>
                <a:spcPts val="3802"/>
              </a:lnSpc>
            </a:pPr>
            <a:endParaRPr lang="en-US" sz="2210" spc="-24">
              <a:solidFill>
                <a:srgbClr val="30364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3802"/>
              </a:lnSpc>
            </a:pPr>
            <a:endParaRPr lang="en-US" sz="2210" spc="-24">
              <a:solidFill>
                <a:srgbClr val="30364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6792707" cy="10287000"/>
            <a:chOff x="0" y="0"/>
            <a:chExt cx="1789026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89026" cy="2709333"/>
            </a:xfrm>
            <a:custGeom>
              <a:avLst/>
              <a:gdLst/>
              <a:ahLst/>
              <a:cxnLst/>
              <a:rect l="l" t="t" r="r" b="b"/>
              <a:pathLst>
                <a:path w="1789026" h="2709333">
                  <a:moveTo>
                    <a:pt x="0" y="0"/>
                  </a:moveTo>
                  <a:lnTo>
                    <a:pt x="1789026" y="0"/>
                  </a:lnTo>
                  <a:lnTo>
                    <a:pt x="17890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8275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789026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637318" y="8630505"/>
            <a:ext cx="897167" cy="2183545"/>
            <a:chOff x="0" y="0"/>
            <a:chExt cx="236291" cy="5750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6291" cy="575090"/>
            </a:xfrm>
            <a:custGeom>
              <a:avLst/>
              <a:gdLst/>
              <a:ahLst/>
              <a:cxnLst/>
              <a:rect l="l" t="t" r="r" b="b"/>
              <a:pathLst>
                <a:path w="236291" h="575090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236291" cy="6322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8030957" y="3998564"/>
            <a:ext cx="8071107" cy="5380738"/>
          </a:xfrm>
          <a:custGeom>
            <a:avLst/>
            <a:gdLst/>
            <a:ahLst/>
            <a:cxnLst/>
            <a:rect l="l" t="t" r="r" b="b"/>
            <a:pathLst>
              <a:path w="8071107" h="5380738">
                <a:moveTo>
                  <a:pt x="0" y="0"/>
                </a:moveTo>
                <a:lnTo>
                  <a:pt x="8071107" y="0"/>
                </a:lnTo>
                <a:lnTo>
                  <a:pt x="8071107" y="5380737"/>
                </a:lnTo>
                <a:lnTo>
                  <a:pt x="0" y="53807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28411" y="457200"/>
            <a:ext cx="6464297" cy="1886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4"/>
              </a:lnSpc>
            </a:pPr>
            <a:r>
              <a:rPr lang="en-US" sz="356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CONTEXT &amp; PROBLEM UNDERSTANDING</a:t>
            </a:r>
          </a:p>
          <a:p>
            <a:pPr algn="l">
              <a:lnSpc>
                <a:spcPts val="4994"/>
              </a:lnSpc>
            </a:pPr>
            <a:endParaRPr lang="en-US" sz="3567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28411" y="2138038"/>
            <a:ext cx="5634574" cy="186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8997" lvl="1" indent="-229499" algn="l">
              <a:lnSpc>
                <a:spcPts val="2976"/>
              </a:lnSpc>
              <a:buFont typeface="Arial"/>
              <a:buChar char="•"/>
            </a:pPr>
            <a:r>
              <a:rPr lang="en-US" sz="21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BearCart is an online retailer with growing digital traffic</a:t>
            </a:r>
          </a:p>
          <a:p>
            <a:pPr marL="458997" lvl="1" indent="-229499" algn="l">
              <a:lnSpc>
                <a:spcPts val="2976"/>
              </a:lnSpc>
              <a:buFont typeface="Arial"/>
              <a:buChar char="•"/>
            </a:pPr>
            <a:r>
              <a:rPr lang="en-US" sz="21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Large datasets available but limited actionable insights</a:t>
            </a:r>
          </a:p>
          <a:p>
            <a:pPr algn="l">
              <a:lnSpc>
                <a:spcPts val="2976"/>
              </a:lnSpc>
              <a:spcBef>
                <a:spcPct val="0"/>
              </a:spcBef>
            </a:pPr>
            <a:endParaRPr lang="en-US" sz="2125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28411" y="4721374"/>
            <a:ext cx="5634574" cy="297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8997" lvl="1" indent="-229499" algn="l">
              <a:lnSpc>
                <a:spcPts val="2976"/>
              </a:lnSpc>
              <a:buFont typeface="Arial"/>
              <a:buChar char="•"/>
            </a:pPr>
            <a:r>
              <a:rPr lang="en-US" sz="21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High website traffic but low conversion rate</a:t>
            </a:r>
          </a:p>
          <a:p>
            <a:pPr marL="458997" lvl="1" indent="-229499" algn="l">
              <a:lnSpc>
                <a:spcPts val="2976"/>
              </a:lnSpc>
              <a:buFont typeface="Arial"/>
              <a:buChar char="•"/>
            </a:pPr>
            <a:r>
              <a:rPr lang="en-US" sz="21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Need to understand where users drop off</a:t>
            </a:r>
          </a:p>
          <a:p>
            <a:pPr marL="458997" lvl="1" indent="-229499" algn="l">
              <a:lnSpc>
                <a:spcPts val="2976"/>
              </a:lnSpc>
              <a:buFont typeface="Arial"/>
              <a:buChar char="•"/>
            </a:pPr>
            <a:r>
              <a:rPr lang="en-US" sz="21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Optimize marketing spend, conversion funnel, and revenue growth</a:t>
            </a:r>
          </a:p>
          <a:p>
            <a:pPr algn="l">
              <a:lnSpc>
                <a:spcPts val="2976"/>
              </a:lnSpc>
              <a:spcBef>
                <a:spcPct val="0"/>
              </a:spcBef>
            </a:pPr>
            <a:endParaRPr lang="en-US" sz="2125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792707" y="303565"/>
            <a:ext cx="6208361" cy="924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20"/>
              </a:lnSpc>
            </a:pPr>
            <a:r>
              <a:rPr lang="en-US" sz="5229" b="1">
                <a:solidFill>
                  <a:srgbClr val="30364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Statments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82247" y="1566154"/>
            <a:ext cx="8771756" cy="1572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07"/>
              </a:lnSpc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To analyze e-commerce data to identify key drivers of traffic, conversion, and revenue, and provide data-driven business recommendations using dashboards.</a:t>
            </a:r>
          </a:p>
          <a:p>
            <a:pPr algn="just">
              <a:lnSpc>
                <a:spcPts val="3107"/>
              </a:lnSpc>
              <a:spcBef>
                <a:spcPct val="0"/>
              </a:spcBef>
            </a:pPr>
            <a:endParaRPr lang="en-US" sz="2219">
              <a:solidFill>
                <a:srgbClr val="30364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93703" y="3938751"/>
            <a:ext cx="4008963" cy="631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4"/>
              </a:lnSpc>
            </a:pPr>
            <a:r>
              <a:rPr lang="en-US" sz="356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PROBLEM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0853" y="7713802"/>
            <a:ext cx="4008963" cy="631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4"/>
              </a:lnSpc>
            </a:pPr>
            <a:r>
              <a:rPr lang="en-US" sz="356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79067" y="8116997"/>
            <a:ext cx="5634574" cy="1489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6"/>
              </a:lnSpc>
            </a:pPr>
            <a:endParaRPr/>
          </a:p>
          <a:p>
            <a:pPr marL="458997" lvl="1" indent="-229499" algn="l">
              <a:lnSpc>
                <a:spcPts val="2976"/>
              </a:lnSpc>
              <a:buFont typeface="Arial"/>
              <a:buChar char="•"/>
            </a:pPr>
            <a:r>
              <a:rPr lang="en-US" sz="21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Transform raw data into </a:t>
            </a:r>
            <a:r>
              <a:rPr lang="en-US" sz="212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clear insights and recommendations</a:t>
            </a:r>
          </a:p>
          <a:p>
            <a:pPr algn="l">
              <a:lnSpc>
                <a:spcPts val="2976"/>
              </a:lnSpc>
              <a:spcBef>
                <a:spcPct val="0"/>
              </a:spcBef>
            </a:pPr>
            <a:endParaRPr lang="en-US" sz="2125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623043" y="0"/>
            <a:ext cx="6379957" cy="10287000"/>
            <a:chOff x="0" y="0"/>
            <a:chExt cx="1680318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80318" cy="2709333"/>
            </a:xfrm>
            <a:custGeom>
              <a:avLst/>
              <a:gdLst/>
              <a:ahLst/>
              <a:cxnLst/>
              <a:rect l="l" t="t" r="r" b="b"/>
              <a:pathLst>
                <a:path w="1680318" h="2709333">
                  <a:moveTo>
                    <a:pt x="0" y="0"/>
                  </a:moveTo>
                  <a:lnTo>
                    <a:pt x="1680318" y="0"/>
                  </a:lnTo>
                  <a:lnTo>
                    <a:pt x="168031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8275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680318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07054" y="2977241"/>
            <a:ext cx="3438452" cy="2538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2049" b="1">
                <a:solidFill>
                  <a:srgbClr val="382752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Datasets Used</a:t>
            </a:r>
          </a:p>
          <a:p>
            <a:pPr marL="442594" lvl="1" indent="-221297" algn="l">
              <a:lnSpc>
                <a:spcPts val="2869"/>
              </a:lnSpc>
              <a:buFont typeface="Arial"/>
              <a:buChar char="•"/>
            </a:pPr>
            <a:r>
              <a:rPr lang="en-US" sz="2049">
                <a:solidFill>
                  <a:srgbClr val="382752"/>
                </a:solidFill>
                <a:latin typeface="Poppins"/>
                <a:ea typeface="Poppins"/>
                <a:cs typeface="Poppins"/>
                <a:sym typeface="Poppins"/>
              </a:rPr>
              <a:t>Sessions</a:t>
            </a:r>
          </a:p>
          <a:p>
            <a:pPr marL="442594" lvl="1" indent="-221297" algn="l">
              <a:lnSpc>
                <a:spcPts val="2869"/>
              </a:lnSpc>
              <a:buFont typeface="Arial"/>
              <a:buChar char="•"/>
            </a:pPr>
            <a:r>
              <a:rPr lang="en-US" sz="2049">
                <a:solidFill>
                  <a:srgbClr val="382752"/>
                </a:solidFill>
                <a:latin typeface="Poppins"/>
                <a:ea typeface="Poppins"/>
                <a:cs typeface="Poppins"/>
                <a:sym typeface="Poppins"/>
              </a:rPr>
              <a:t>Pageviews</a:t>
            </a:r>
          </a:p>
          <a:p>
            <a:pPr marL="442594" lvl="1" indent="-221297" algn="l">
              <a:lnSpc>
                <a:spcPts val="2869"/>
              </a:lnSpc>
              <a:buFont typeface="Arial"/>
              <a:buChar char="•"/>
            </a:pPr>
            <a:r>
              <a:rPr lang="en-US" sz="2049">
                <a:solidFill>
                  <a:srgbClr val="382752"/>
                </a:solidFill>
                <a:latin typeface="Poppins"/>
                <a:ea typeface="Poppins"/>
                <a:cs typeface="Poppins"/>
                <a:sym typeface="Poppins"/>
              </a:rPr>
              <a:t>Orders &amp; Order Items</a:t>
            </a:r>
          </a:p>
          <a:p>
            <a:pPr marL="442594" lvl="1" indent="-221297" algn="l">
              <a:lnSpc>
                <a:spcPts val="2869"/>
              </a:lnSpc>
              <a:buFont typeface="Arial"/>
              <a:buChar char="•"/>
            </a:pPr>
            <a:r>
              <a:rPr lang="en-US" sz="2049">
                <a:solidFill>
                  <a:srgbClr val="382752"/>
                </a:solidFill>
                <a:latin typeface="Poppins"/>
                <a:ea typeface="Poppins"/>
                <a:cs typeface="Poppins"/>
                <a:sym typeface="Poppins"/>
              </a:rPr>
              <a:t>Products</a:t>
            </a:r>
          </a:p>
          <a:p>
            <a:pPr marL="442594" lvl="1" indent="-221297" algn="l">
              <a:lnSpc>
                <a:spcPts val="2869"/>
              </a:lnSpc>
              <a:buFont typeface="Arial"/>
              <a:buChar char="•"/>
            </a:pPr>
            <a:r>
              <a:rPr lang="en-US" sz="2049">
                <a:solidFill>
                  <a:srgbClr val="382752"/>
                </a:solidFill>
                <a:latin typeface="Poppins"/>
                <a:ea typeface="Poppins"/>
                <a:cs typeface="Poppins"/>
                <a:sym typeface="Poppins"/>
              </a:rPr>
              <a:t>Refunds</a:t>
            </a:r>
          </a:p>
          <a:p>
            <a:pPr algn="l">
              <a:lnSpc>
                <a:spcPts val="2869"/>
              </a:lnSpc>
              <a:spcBef>
                <a:spcPct val="0"/>
              </a:spcBef>
            </a:pPr>
            <a:endParaRPr lang="en-US" sz="2049">
              <a:solidFill>
                <a:srgbClr val="38275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853728" y="2977241"/>
            <a:ext cx="2534717" cy="1090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9"/>
              </a:lnSpc>
            </a:pPr>
            <a:r>
              <a:rPr lang="en-US" sz="2049" b="1">
                <a:solidFill>
                  <a:srgbClr val="382752"/>
                </a:solidFill>
                <a:latin typeface="Poppins Bold"/>
                <a:ea typeface="Poppins Bold"/>
                <a:cs typeface="Poppins Bold"/>
                <a:sym typeface="Poppins Bold"/>
              </a:rPr>
              <a:t>Data Time Period</a:t>
            </a:r>
          </a:p>
          <a:p>
            <a:pPr marL="442594" lvl="1" indent="-221297" algn="l">
              <a:lnSpc>
                <a:spcPts val="2869"/>
              </a:lnSpc>
              <a:buFont typeface="Arial"/>
              <a:buChar char="•"/>
            </a:pPr>
            <a:r>
              <a:rPr lang="en-US" sz="2049">
                <a:solidFill>
                  <a:srgbClr val="382752"/>
                </a:solidFill>
                <a:latin typeface="Poppins"/>
                <a:ea typeface="Poppins"/>
                <a:cs typeface="Poppins"/>
                <a:sym typeface="Poppins"/>
              </a:rPr>
              <a:t>2012 – 2015</a:t>
            </a:r>
          </a:p>
          <a:p>
            <a:pPr algn="l">
              <a:lnSpc>
                <a:spcPts val="2869"/>
              </a:lnSpc>
              <a:spcBef>
                <a:spcPct val="0"/>
              </a:spcBef>
            </a:pPr>
            <a:endParaRPr lang="en-US" sz="2049">
              <a:solidFill>
                <a:srgbClr val="38275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853728" y="5458821"/>
            <a:ext cx="2993526" cy="1814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2051" b="1">
                <a:solidFill>
                  <a:srgbClr val="382752"/>
                </a:solidFill>
                <a:latin typeface="Poppins Bold"/>
                <a:ea typeface="Poppins Bold"/>
                <a:cs typeface="Poppins Bold"/>
                <a:sym typeface="Poppins Bold"/>
              </a:rPr>
              <a:t>Outcome</a:t>
            </a:r>
          </a:p>
          <a:p>
            <a:pPr marL="442991" lvl="1" indent="-221496" algn="l">
              <a:lnSpc>
                <a:spcPts val="2872"/>
              </a:lnSpc>
              <a:buFont typeface="Arial"/>
              <a:buChar char="•"/>
            </a:pPr>
            <a:r>
              <a:rPr lang="en-US" sz="2051">
                <a:solidFill>
                  <a:srgbClr val="382752"/>
                </a:solidFill>
                <a:latin typeface="Poppins"/>
                <a:ea typeface="Poppins"/>
                <a:cs typeface="Poppins"/>
                <a:sym typeface="Poppins"/>
              </a:rPr>
              <a:t>Clean, reliable datasets for accurate analysis</a:t>
            </a:r>
          </a:p>
          <a:p>
            <a:pPr algn="l">
              <a:lnSpc>
                <a:spcPts val="2872"/>
              </a:lnSpc>
              <a:spcBef>
                <a:spcPct val="0"/>
              </a:spcBef>
            </a:pPr>
            <a:endParaRPr lang="en-US" sz="2051">
              <a:solidFill>
                <a:srgbClr val="38275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42632" y="5458821"/>
            <a:ext cx="4210922" cy="3262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2051" b="1">
                <a:solidFill>
                  <a:srgbClr val="382752"/>
                </a:solidFill>
                <a:latin typeface="Poppins Bold"/>
                <a:ea typeface="Poppins Bold"/>
                <a:cs typeface="Poppins Bold"/>
                <a:sym typeface="Poppins Bold"/>
              </a:rPr>
              <a:t>Data Preparation Steps</a:t>
            </a:r>
          </a:p>
          <a:p>
            <a:pPr marL="442991" lvl="1" indent="-221496" algn="l">
              <a:lnSpc>
                <a:spcPts val="2872"/>
              </a:lnSpc>
              <a:buFont typeface="Arial"/>
              <a:buChar char="•"/>
            </a:pPr>
            <a:r>
              <a:rPr lang="en-US" sz="2051">
                <a:solidFill>
                  <a:srgbClr val="382752"/>
                </a:solidFill>
                <a:latin typeface="Poppins"/>
                <a:ea typeface="Poppins"/>
                <a:cs typeface="Poppins"/>
                <a:sym typeface="Poppins"/>
              </a:rPr>
              <a:t>Removed duplicates</a:t>
            </a:r>
          </a:p>
          <a:p>
            <a:pPr marL="442991" lvl="1" indent="-221496" algn="l">
              <a:lnSpc>
                <a:spcPts val="2872"/>
              </a:lnSpc>
              <a:buFont typeface="Arial"/>
              <a:buChar char="•"/>
            </a:pPr>
            <a:r>
              <a:rPr lang="en-US" sz="2051">
                <a:solidFill>
                  <a:srgbClr val="382752"/>
                </a:solidFill>
                <a:latin typeface="Poppins"/>
                <a:ea typeface="Poppins"/>
                <a:cs typeface="Poppins"/>
                <a:sym typeface="Poppins"/>
              </a:rPr>
              <a:t>Handled missing UTM values</a:t>
            </a:r>
          </a:p>
          <a:p>
            <a:pPr marL="442991" lvl="1" indent="-221496" algn="l">
              <a:lnSpc>
                <a:spcPts val="2872"/>
              </a:lnSpc>
              <a:buFont typeface="Arial"/>
              <a:buChar char="•"/>
            </a:pPr>
            <a:r>
              <a:rPr lang="en-US" sz="2051">
                <a:solidFill>
                  <a:srgbClr val="382752"/>
                </a:solidFill>
                <a:latin typeface="Poppins"/>
                <a:ea typeface="Poppins"/>
                <a:cs typeface="Poppins"/>
                <a:sym typeface="Poppins"/>
              </a:rPr>
              <a:t>Standardized columns and formats</a:t>
            </a:r>
          </a:p>
          <a:p>
            <a:pPr marL="442991" lvl="1" indent="-221496" algn="l">
              <a:lnSpc>
                <a:spcPts val="2872"/>
              </a:lnSpc>
              <a:buFont typeface="Arial"/>
              <a:buChar char="•"/>
            </a:pPr>
            <a:r>
              <a:rPr lang="en-US" sz="2051">
                <a:solidFill>
                  <a:srgbClr val="382752"/>
                </a:solidFill>
                <a:latin typeface="Poppins"/>
                <a:ea typeface="Poppins"/>
                <a:cs typeface="Poppins"/>
                <a:sym typeface="Poppins"/>
              </a:rPr>
              <a:t>Created calculated metrics (Revenue, AOV, Conversion Rate)</a:t>
            </a:r>
          </a:p>
          <a:p>
            <a:pPr algn="l">
              <a:lnSpc>
                <a:spcPts val="2872"/>
              </a:lnSpc>
              <a:spcBef>
                <a:spcPct val="0"/>
              </a:spcBef>
            </a:pPr>
            <a:endParaRPr lang="en-US" sz="2051">
              <a:solidFill>
                <a:srgbClr val="38275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11481238" y="2399666"/>
            <a:ext cx="5778062" cy="5778062"/>
          </a:xfrm>
          <a:custGeom>
            <a:avLst/>
            <a:gdLst/>
            <a:ahLst/>
            <a:cxnLst/>
            <a:rect l="l" t="t" r="r" b="b"/>
            <a:pathLst>
              <a:path w="5778062" h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 rot="5400000">
            <a:off x="5073071" y="-6085822"/>
            <a:ext cx="1561315" cy="14229044"/>
            <a:chOff x="0" y="0"/>
            <a:chExt cx="411211" cy="374756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11211" cy="3747567"/>
            </a:xfrm>
            <a:custGeom>
              <a:avLst/>
              <a:gdLst/>
              <a:ahLst/>
              <a:cxnLst/>
              <a:rect l="l" t="t" r="r" b="b"/>
              <a:pathLst>
                <a:path w="411211" h="3747567">
                  <a:moveTo>
                    <a:pt x="205605" y="0"/>
                  </a:moveTo>
                  <a:lnTo>
                    <a:pt x="205605" y="0"/>
                  </a:lnTo>
                  <a:cubicBezTo>
                    <a:pt x="260135" y="0"/>
                    <a:pt x="312432" y="21662"/>
                    <a:pt x="350990" y="60220"/>
                  </a:cubicBezTo>
                  <a:cubicBezTo>
                    <a:pt x="389549" y="98779"/>
                    <a:pt x="411211" y="151075"/>
                    <a:pt x="411211" y="205605"/>
                  </a:cubicBezTo>
                  <a:lnTo>
                    <a:pt x="411211" y="3541962"/>
                  </a:lnTo>
                  <a:cubicBezTo>
                    <a:pt x="411211" y="3655514"/>
                    <a:pt x="319158" y="3747567"/>
                    <a:pt x="205605" y="3747567"/>
                  </a:cubicBezTo>
                  <a:lnTo>
                    <a:pt x="205605" y="3747567"/>
                  </a:lnTo>
                  <a:cubicBezTo>
                    <a:pt x="151075" y="3747567"/>
                    <a:pt x="98779" y="3725905"/>
                    <a:pt x="60220" y="3687347"/>
                  </a:cubicBezTo>
                  <a:cubicBezTo>
                    <a:pt x="21662" y="3648788"/>
                    <a:pt x="0" y="3596492"/>
                    <a:pt x="0" y="3541962"/>
                  </a:cubicBezTo>
                  <a:lnTo>
                    <a:pt x="0" y="205605"/>
                  </a:lnTo>
                  <a:cubicBezTo>
                    <a:pt x="0" y="92053"/>
                    <a:pt x="92053" y="0"/>
                    <a:pt x="205605" y="0"/>
                  </a:cubicBezTo>
                  <a:close/>
                </a:path>
              </a:pathLst>
            </a:custGeom>
            <a:solidFill>
              <a:srgbClr val="38275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411211" cy="3804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28357" y="407452"/>
            <a:ext cx="9750635" cy="1598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OVERVIEW &amp; PREPARATION</a:t>
            </a:r>
          </a:p>
          <a:p>
            <a:pPr algn="l">
              <a:lnSpc>
                <a:spcPts val="6372"/>
              </a:lnSpc>
            </a:pPr>
            <a:endParaRPr lang="en-US" sz="4551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5400000">
            <a:off x="-9375775" y="5708057"/>
            <a:ext cx="18802350" cy="2006600"/>
            <a:chOff x="0" y="0"/>
            <a:chExt cx="4952059" cy="5284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52059" cy="528487"/>
            </a:xfrm>
            <a:custGeom>
              <a:avLst/>
              <a:gdLst/>
              <a:ahLst/>
              <a:cxnLst/>
              <a:rect l="l" t="t" r="r" b="b"/>
              <a:pathLst>
                <a:path w="4952059" h="528487">
                  <a:moveTo>
                    <a:pt x="20999" y="0"/>
                  </a:moveTo>
                  <a:lnTo>
                    <a:pt x="4931060" y="0"/>
                  </a:lnTo>
                  <a:cubicBezTo>
                    <a:pt x="4936629" y="0"/>
                    <a:pt x="4941970" y="2212"/>
                    <a:pt x="4945909" y="6151"/>
                  </a:cubicBezTo>
                  <a:cubicBezTo>
                    <a:pt x="4949847" y="10089"/>
                    <a:pt x="4952059" y="15430"/>
                    <a:pt x="4952059" y="20999"/>
                  </a:cubicBezTo>
                  <a:lnTo>
                    <a:pt x="4952059" y="507488"/>
                  </a:lnTo>
                  <a:cubicBezTo>
                    <a:pt x="4952059" y="519086"/>
                    <a:pt x="4942658" y="528487"/>
                    <a:pt x="4931060" y="528487"/>
                  </a:cubicBezTo>
                  <a:lnTo>
                    <a:pt x="20999" y="528487"/>
                  </a:lnTo>
                  <a:cubicBezTo>
                    <a:pt x="15430" y="528487"/>
                    <a:pt x="10089" y="526275"/>
                    <a:pt x="6151" y="522337"/>
                  </a:cubicBezTo>
                  <a:cubicBezTo>
                    <a:pt x="2212" y="518399"/>
                    <a:pt x="0" y="513057"/>
                    <a:pt x="0" y="507488"/>
                  </a:cubicBezTo>
                  <a:lnTo>
                    <a:pt x="0" y="20999"/>
                  </a:lnTo>
                  <a:cubicBezTo>
                    <a:pt x="0" y="15430"/>
                    <a:pt x="2212" y="10089"/>
                    <a:pt x="6151" y="6151"/>
                  </a:cubicBezTo>
                  <a:cubicBezTo>
                    <a:pt x="10089" y="2212"/>
                    <a:pt x="15430" y="0"/>
                    <a:pt x="20999" y="0"/>
                  </a:cubicBezTo>
                  <a:close/>
                </a:path>
              </a:pathLst>
            </a:custGeom>
            <a:solidFill>
              <a:srgbClr val="38275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952059" cy="585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8549682" y="-3642363"/>
            <a:ext cx="1184500" cy="8671025"/>
            <a:chOff x="0" y="0"/>
            <a:chExt cx="311967" cy="228372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1967" cy="2283727"/>
            </a:xfrm>
            <a:custGeom>
              <a:avLst/>
              <a:gdLst/>
              <a:ahLst/>
              <a:cxnLst/>
              <a:rect l="l" t="t" r="r" b="b"/>
              <a:pathLst>
                <a:path w="311967" h="2283727">
                  <a:moveTo>
                    <a:pt x="155984" y="0"/>
                  </a:moveTo>
                  <a:lnTo>
                    <a:pt x="155984" y="0"/>
                  </a:lnTo>
                  <a:cubicBezTo>
                    <a:pt x="197353" y="0"/>
                    <a:pt x="237028" y="16434"/>
                    <a:pt x="266281" y="45687"/>
                  </a:cubicBezTo>
                  <a:cubicBezTo>
                    <a:pt x="295533" y="74939"/>
                    <a:pt x="311967" y="114614"/>
                    <a:pt x="311967" y="155984"/>
                  </a:cubicBezTo>
                  <a:lnTo>
                    <a:pt x="311967" y="2127743"/>
                  </a:lnTo>
                  <a:cubicBezTo>
                    <a:pt x="311967" y="2213891"/>
                    <a:pt x="242131" y="2283727"/>
                    <a:pt x="155984" y="2283727"/>
                  </a:cubicBezTo>
                  <a:lnTo>
                    <a:pt x="155984" y="2283727"/>
                  </a:lnTo>
                  <a:cubicBezTo>
                    <a:pt x="114614" y="2283727"/>
                    <a:pt x="74939" y="2267293"/>
                    <a:pt x="45687" y="2238040"/>
                  </a:cubicBezTo>
                  <a:cubicBezTo>
                    <a:pt x="16434" y="2208788"/>
                    <a:pt x="0" y="2169113"/>
                    <a:pt x="0" y="2127743"/>
                  </a:cubicBezTo>
                  <a:lnTo>
                    <a:pt x="0" y="155984"/>
                  </a:lnTo>
                  <a:cubicBezTo>
                    <a:pt x="0" y="69836"/>
                    <a:pt x="69836" y="0"/>
                    <a:pt x="155984" y="0"/>
                  </a:cubicBezTo>
                  <a:close/>
                </a:path>
              </a:pathLst>
            </a:custGeom>
            <a:solidFill>
              <a:srgbClr val="38275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311967" cy="2340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874726" y="1908895"/>
            <a:ext cx="7629735" cy="6645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64"/>
              </a:lnSpc>
            </a:pPr>
            <a:r>
              <a:rPr lang="en-US" sz="3117" b="1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Analysis Approach</a:t>
            </a:r>
          </a:p>
          <a:p>
            <a:pPr marL="673040" lvl="1" indent="-336520" algn="just">
              <a:lnSpc>
                <a:spcPts val="4364"/>
              </a:lnSpc>
              <a:buAutoNum type="arabicPeriod"/>
            </a:pPr>
            <a:r>
              <a:rPr lang="en-US" sz="3117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Data Cleaning &amp; Validation</a:t>
            </a:r>
          </a:p>
          <a:p>
            <a:pPr marL="673040" lvl="1" indent="-336520" algn="just">
              <a:lnSpc>
                <a:spcPts val="4364"/>
              </a:lnSpc>
              <a:buAutoNum type="arabicPeriod"/>
            </a:pPr>
            <a:r>
              <a:rPr lang="en-US" sz="3117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KPI Definition</a:t>
            </a:r>
          </a:p>
          <a:p>
            <a:pPr marL="673040" lvl="1" indent="-336520" algn="just">
              <a:lnSpc>
                <a:spcPts val="4364"/>
              </a:lnSpc>
              <a:buAutoNum type="arabicPeriod"/>
            </a:pPr>
            <a:r>
              <a:rPr lang="en-US" sz="3117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Trend Analysis</a:t>
            </a:r>
          </a:p>
          <a:p>
            <a:pPr marL="673040" lvl="1" indent="-336520" algn="just">
              <a:lnSpc>
                <a:spcPts val="4364"/>
              </a:lnSpc>
              <a:buAutoNum type="arabicPeriod"/>
            </a:pPr>
            <a:r>
              <a:rPr lang="en-US" sz="3117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Conversion Funnel Analysis</a:t>
            </a:r>
          </a:p>
          <a:p>
            <a:pPr marL="673040" lvl="1" indent="-336520" algn="just">
              <a:lnSpc>
                <a:spcPts val="4364"/>
              </a:lnSpc>
              <a:buAutoNum type="arabicPeriod"/>
            </a:pPr>
            <a:r>
              <a:rPr lang="en-US" sz="3117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Channel &amp; Device Performance</a:t>
            </a:r>
          </a:p>
          <a:p>
            <a:pPr marL="673040" lvl="1" indent="-336520" algn="just">
              <a:lnSpc>
                <a:spcPts val="4364"/>
              </a:lnSpc>
              <a:buAutoNum type="arabicPeriod"/>
            </a:pPr>
            <a:r>
              <a:rPr lang="en-US" sz="3117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Product &amp; Refund Analysis</a:t>
            </a:r>
          </a:p>
          <a:p>
            <a:pPr algn="just">
              <a:lnSpc>
                <a:spcPts val="4364"/>
              </a:lnSpc>
            </a:pPr>
            <a:endParaRPr lang="en-US" sz="3117">
              <a:solidFill>
                <a:srgbClr val="30364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4364"/>
              </a:lnSpc>
            </a:pPr>
            <a:r>
              <a:rPr lang="en-US" sz="3117" b="1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Tools Used</a:t>
            </a:r>
          </a:p>
          <a:p>
            <a:pPr marL="673040" lvl="1" indent="-336520" algn="just">
              <a:lnSpc>
                <a:spcPts val="4364"/>
              </a:lnSpc>
              <a:buFont typeface="Arial"/>
              <a:buChar char="•"/>
            </a:pPr>
            <a:r>
              <a:rPr lang="en-US" sz="3117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Python (Data Processing &amp; EDA)</a:t>
            </a:r>
          </a:p>
          <a:p>
            <a:pPr marL="673040" lvl="1" indent="-336520" algn="just">
              <a:lnSpc>
                <a:spcPts val="4364"/>
              </a:lnSpc>
              <a:buFont typeface="Arial"/>
              <a:buChar char="•"/>
            </a:pPr>
            <a:r>
              <a:rPr lang="en-US" sz="3117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Power BI (Interactive Dashboard)</a:t>
            </a:r>
          </a:p>
          <a:p>
            <a:pPr algn="just">
              <a:lnSpc>
                <a:spcPts val="4364"/>
              </a:lnSpc>
              <a:spcBef>
                <a:spcPct val="0"/>
              </a:spcBef>
            </a:pPr>
            <a:endParaRPr lang="en-US" sz="3117">
              <a:solidFill>
                <a:srgbClr val="30364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0" name="Group 10"/>
          <p:cNvGrpSpPr/>
          <p:nvPr/>
        </p:nvGrpSpPr>
        <p:grpSpPr>
          <a:xfrm rot="5400000">
            <a:off x="8861425" y="7311194"/>
            <a:ext cx="18802350" cy="2006600"/>
            <a:chOff x="0" y="0"/>
            <a:chExt cx="4952059" cy="52848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952059" cy="528487"/>
            </a:xfrm>
            <a:custGeom>
              <a:avLst/>
              <a:gdLst/>
              <a:ahLst/>
              <a:cxnLst/>
              <a:rect l="l" t="t" r="r" b="b"/>
              <a:pathLst>
                <a:path w="4952059" h="528487">
                  <a:moveTo>
                    <a:pt x="20999" y="0"/>
                  </a:moveTo>
                  <a:lnTo>
                    <a:pt x="4931060" y="0"/>
                  </a:lnTo>
                  <a:cubicBezTo>
                    <a:pt x="4936629" y="0"/>
                    <a:pt x="4941970" y="2212"/>
                    <a:pt x="4945909" y="6151"/>
                  </a:cubicBezTo>
                  <a:cubicBezTo>
                    <a:pt x="4949847" y="10089"/>
                    <a:pt x="4952059" y="15430"/>
                    <a:pt x="4952059" y="20999"/>
                  </a:cubicBezTo>
                  <a:lnTo>
                    <a:pt x="4952059" y="507488"/>
                  </a:lnTo>
                  <a:cubicBezTo>
                    <a:pt x="4952059" y="519086"/>
                    <a:pt x="4942658" y="528487"/>
                    <a:pt x="4931060" y="528487"/>
                  </a:cubicBezTo>
                  <a:lnTo>
                    <a:pt x="20999" y="528487"/>
                  </a:lnTo>
                  <a:cubicBezTo>
                    <a:pt x="15430" y="528487"/>
                    <a:pt x="10089" y="526275"/>
                    <a:pt x="6151" y="522337"/>
                  </a:cubicBezTo>
                  <a:cubicBezTo>
                    <a:pt x="2212" y="518399"/>
                    <a:pt x="0" y="513057"/>
                    <a:pt x="0" y="507488"/>
                  </a:cubicBezTo>
                  <a:lnTo>
                    <a:pt x="0" y="20999"/>
                  </a:lnTo>
                  <a:cubicBezTo>
                    <a:pt x="0" y="15430"/>
                    <a:pt x="2212" y="10089"/>
                    <a:pt x="6151" y="6151"/>
                  </a:cubicBezTo>
                  <a:cubicBezTo>
                    <a:pt x="10089" y="2212"/>
                    <a:pt x="15430" y="0"/>
                    <a:pt x="20999" y="0"/>
                  </a:cubicBezTo>
                  <a:close/>
                </a:path>
              </a:pathLst>
            </a:custGeom>
            <a:solidFill>
              <a:srgbClr val="38275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4952059" cy="585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458905" y="1028700"/>
            <a:ext cx="3347514" cy="3347514"/>
          </a:xfrm>
          <a:custGeom>
            <a:avLst/>
            <a:gdLst/>
            <a:ahLst/>
            <a:cxnLst/>
            <a:rect l="l" t="t" r="r" b="b"/>
            <a:pathLst>
              <a:path w="3347514" h="3347514">
                <a:moveTo>
                  <a:pt x="0" y="0"/>
                </a:moveTo>
                <a:lnTo>
                  <a:pt x="3347514" y="0"/>
                </a:lnTo>
                <a:lnTo>
                  <a:pt x="3347514" y="3347514"/>
                </a:lnTo>
                <a:lnTo>
                  <a:pt x="0" y="3347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313961" y="6392074"/>
            <a:ext cx="3844840" cy="3844840"/>
          </a:xfrm>
          <a:custGeom>
            <a:avLst/>
            <a:gdLst/>
            <a:ahLst/>
            <a:cxnLst/>
            <a:rect l="l" t="t" r="r" b="b"/>
            <a:pathLst>
              <a:path w="3844840" h="3844840">
                <a:moveTo>
                  <a:pt x="0" y="0"/>
                </a:moveTo>
                <a:lnTo>
                  <a:pt x="3844841" y="0"/>
                </a:lnTo>
                <a:lnTo>
                  <a:pt x="3844841" y="3844840"/>
                </a:lnTo>
                <a:lnTo>
                  <a:pt x="0" y="38448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974039" y="323850"/>
            <a:ext cx="8339923" cy="643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94"/>
              </a:lnSpc>
            </a:pPr>
            <a:r>
              <a:rPr lang="en-US" sz="363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APPROACH &amp; METHODOLOGY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04800" y="171342"/>
            <a:ext cx="11324394" cy="1588637"/>
            <a:chOff x="0" y="0"/>
            <a:chExt cx="2326262" cy="32633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26262" cy="326338"/>
            </a:xfrm>
            <a:custGeom>
              <a:avLst/>
              <a:gdLst/>
              <a:ahLst/>
              <a:cxnLst/>
              <a:rect l="l" t="t" r="r" b="b"/>
              <a:pathLst>
                <a:path w="2326262" h="326338">
                  <a:moveTo>
                    <a:pt x="34866" y="0"/>
                  </a:moveTo>
                  <a:lnTo>
                    <a:pt x="2291396" y="0"/>
                  </a:lnTo>
                  <a:cubicBezTo>
                    <a:pt x="2310652" y="0"/>
                    <a:pt x="2326262" y="15610"/>
                    <a:pt x="2326262" y="34866"/>
                  </a:cubicBezTo>
                  <a:lnTo>
                    <a:pt x="2326262" y="291472"/>
                  </a:lnTo>
                  <a:cubicBezTo>
                    <a:pt x="2326262" y="310728"/>
                    <a:pt x="2310652" y="326338"/>
                    <a:pt x="2291396" y="326338"/>
                  </a:cubicBezTo>
                  <a:lnTo>
                    <a:pt x="34866" y="326338"/>
                  </a:lnTo>
                  <a:cubicBezTo>
                    <a:pt x="25619" y="326338"/>
                    <a:pt x="16751" y="322665"/>
                    <a:pt x="10212" y="316126"/>
                  </a:cubicBezTo>
                  <a:cubicBezTo>
                    <a:pt x="3673" y="309588"/>
                    <a:pt x="0" y="300719"/>
                    <a:pt x="0" y="291472"/>
                  </a:cubicBezTo>
                  <a:lnTo>
                    <a:pt x="0" y="34866"/>
                  </a:lnTo>
                  <a:cubicBezTo>
                    <a:pt x="0" y="25619"/>
                    <a:pt x="3673" y="16751"/>
                    <a:pt x="10212" y="10212"/>
                  </a:cubicBezTo>
                  <a:cubicBezTo>
                    <a:pt x="16751" y="3673"/>
                    <a:pt x="25619" y="0"/>
                    <a:pt x="34866" y="0"/>
                  </a:cubicBezTo>
                  <a:close/>
                </a:path>
              </a:pathLst>
            </a:custGeom>
            <a:solidFill>
              <a:srgbClr val="38275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326262" cy="383488"/>
            </a:xfrm>
            <a:prstGeom prst="rect">
              <a:avLst/>
            </a:prstGeom>
          </p:spPr>
          <p:txBody>
            <a:bodyPr lIns="65132" tIns="65132" rIns="65132" bIns="65132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8226063" y="2594854"/>
            <a:ext cx="8743570" cy="5825403"/>
          </a:xfrm>
          <a:custGeom>
            <a:avLst/>
            <a:gdLst/>
            <a:ahLst/>
            <a:cxnLst/>
            <a:rect l="l" t="t" r="r" b="b"/>
            <a:pathLst>
              <a:path w="8743570" h="5825403">
                <a:moveTo>
                  <a:pt x="0" y="0"/>
                </a:moveTo>
                <a:lnTo>
                  <a:pt x="8743570" y="0"/>
                </a:lnTo>
                <a:lnTo>
                  <a:pt x="8743570" y="5825404"/>
                </a:lnTo>
                <a:lnTo>
                  <a:pt x="0" y="5825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288203" y="284679"/>
            <a:ext cx="9493392" cy="2097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66"/>
              </a:lnSpc>
            </a:pPr>
            <a:r>
              <a:rPr lang="en-US" sz="5904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KPIS DEFINED</a:t>
            </a:r>
          </a:p>
          <a:p>
            <a:pPr algn="l">
              <a:lnSpc>
                <a:spcPts val="8266"/>
              </a:lnSpc>
            </a:pPr>
            <a:endParaRPr lang="en-US" sz="5904" b="1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38200" y="2509129"/>
            <a:ext cx="8305800" cy="718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87"/>
              </a:lnSpc>
            </a:pPr>
            <a:r>
              <a:rPr lang="en-US" sz="3133" b="1">
                <a:solidFill>
                  <a:srgbClr val="38275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Core Performance KPIs</a:t>
            </a:r>
          </a:p>
          <a:p>
            <a:pPr marL="676599" lvl="1" indent="-338299" algn="l">
              <a:lnSpc>
                <a:spcPts val="4387"/>
              </a:lnSpc>
              <a:buFont typeface="Arial"/>
              <a:buChar char="•"/>
            </a:pPr>
            <a:r>
              <a:rPr lang="en-US" sz="3133">
                <a:solidFill>
                  <a:srgbClr val="3827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Sessions</a:t>
            </a:r>
          </a:p>
          <a:p>
            <a:pPr marL="676599" lvl="1" indent="-338299" algn="l">
              <a:lnSpc>
                <a:spcPts val="4387"/>
              </a:lnSpc>
              <a:buFont typeface="Arial"/>
              <a:buChar char="•"/>
            </a:pPr>
            <a:r>
              <a:rPr lang="en-US" sz="3133">
                <a:solidFill>
                  <a:srgbClr val="3827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Orders</a:t>
            </a:r>
          </a:p>
          <a:p>
            <a:pPr marL="676599" lvl="1" indent="-338299" algn="l">
              <a:lnSpc>
                <a:spcPts val="4387"/>
              </a:lnSpc>
              <a:buFont typeface="Arial"/>
              <a:buChar char="•"/>
            </a:pPr>
            <a:r>
              <a:rPr lang="en-US" sz="3133">
                <a:solidFill>
                  <a:srgbClr val="3827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Revenue</a:t>
            </a:r>
          </a:p>
          <a:p>
            <a:pPr marL="676599" lvl="1" indent="-338299" algn="l">
              <a:lnSpc>
                <a:spcPts val="4387"/>
              </a:lnSpc>
              <a:buFont typeface="Arial"/>
              <a:buChar char="•"/>
            </a:pPr>
            <a:r>
              <a:rPr lang="en-US" sz="3133">
                <a:solidFill>
                  <a:srgbClr val="3827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Order Value (AOV)</a:t>
            </a:r>
          </a:p>
          <a:p>
            <a:pPr marL="676599" lvl="1" indent="-338299" algn="l">
              <a:lnSpc>
                <a:spcPts val="4387"/>
              </a:lnSpc>
              <a:buFont typeface="Arial"/>
              <a:buChar char="•"/>
            </a:pPr>
            <a:r>
              <a:rPr lang="en-US" sz="3133">
                <a:solidFill>
                  <a:srgbClr val="3827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Conversion Rate</a:t>
            </a:r>
          </a:p>
          <a:p>
            <a:pPr marL="676599" lvl="1" indent="-338299" algn="l">
              <a:lnSpc>
                <a:spcPts val="4387"/>
              </a:lnSpc>
              <a:buFont typeface="Arial"/>
              <a:buChar char="•"/>
            </a:pPr>
            <a:r>
              <a:rPr lang="en-US" sz="3133">
                <a:solidFill>
                  <a:srgbClr val="3827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Refund Rate</a:t>
            </a:r>
          </a:p>
          <a:p>
            <a:pPr marL="676599" lvl="1" indent="-338299" algn="l">
              <a:lnSpc>
                <a:spcPts val="4387"/>
              </a:lnSpc>
              <a:buFont typeface="Arial"/>
              <a:buChar char="•"/>
            </a:pPr>
            <a:r>
              <a:rPr lang="en-US" sz="3133">
                <a:solidFill>
                  <a:srgbClr val="3827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Refund Amount</a:t>
            </a:r>
          </a:p>
          <a:p>
            <a:pPr algn="l">
              <a:lnSpc>
                <a:spcPts val="4387"/>
              </a:lnSpc>
            </a:pPr>
            <a:r>
              <a:rPr lang="en-US" sz="3133" b="1">
                <a:solidFill>
                  <a:srgbClr val="38275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These KPIs Matter</a:t>
            </a:r>
          </a:p>
          <a:p>
            <a:pPr marL="676599" lvl="1" indent="-338299" algn="l">
              <a:lnSpc>
                <a:spcPts val="4387"/>
              </a:lnSpc>
              <a:buFont typeface="Arial"/>
              <a:buChar char="•"/>
            </a:pPr>
            <a:r>
              <a:rPr lang="en-US" sz="3133">
                <a:solidFill>
                  <a:srgbClr val="3827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 traffic quality</a:t>
            </a:r>
          </a:p>
          <a:p>
            <a:pPr marL="676599" lvl="1" indent="-338299" algn="l">
              <a:lnSpc>
                <a:spcPts val="4387"/>
              </a:lnSpc>
              <a:buFont typeface="Arial"/>
              <a:buChar char="•"/>
            </a:pPr>
            <a:r>
              <a:rPr lang="en-US" sz="3133">
                <a:solidFill>
                  <a:srgbClr val="3827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Track revenue efficiency</a:t>
            </a:r>
          </a:p>
          <a:p>
            <a:pPr marL="676599" lvl="1" indent="-338299" algn="l">
              <a:lnSpc>
                <a:spcPts val="4387"/>
              </a:lnSpc>
              <a:buFont typeface="Arial"/>
              <a:buChar char="•"/>
            </a:pPr>
            <a:r>
              <a:rPr lang="en-US" sz="3133">
                <a:solidFill>
                  <a:srgbClr val="3827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operational and experience issues</a:t>
            </a:r>
          </a:p>
          <a:p>
            <a:pPr algn="l">
              <a:lnSpc>
                <a:spcPts val="4387"/>
              </a:lnSpc>
              <a:spcBef>
                <a:spcPct val="0"/>
              </a:spcBef>
            </a:pPr>
            <a:endParaRPr lang="en-US" sz="3133">
              <a:solidFill>
                <a:srgbClr val="38275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5400000">
            <a:off x="8501300" y="-4349535"/>
            <a:ext cx="1285399" cy="9934145"/>
            <a:chOff x="0" y="0"/>
            <a:chExt cx="338541" cy="2616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8541" cy="2616400"/>
            </a:xfrm>
            <a:custGeom>
              <a:avLst/>
              <a:gdLst/>
              <a:ahLst/>
              <a:cxnLst/>
              <a:rect l="l" t="t" r="r" b="b"/>
              <a:pathLst>
                <a:path w="338541" h="2616400">
                  <a:moveTo>
                    <a:pt x="169271" y="0"/>
                  </a:moveTo>
                  <a:lnTo>
                    <a:pt x="169271" y="0"/>
                  </a:lnTo>
                  <a:cubicBezTo>
                    <a:pt x="262756" y="0"/>
                    <a:pt x="338541" y="75785"/>
                    <a:pt x="338541" y="169271"/>
                  </a:cubicBezTo>
                  <a:lnTo>
                    <a:pt x="338541" y="2447130"/>
                  </a:lnTo>
                  <a:cubicBezTo>
                    <a:pt x="338541" y="2540615"/>
                    <a:pt x="262756" y="2616400"/>
                    <a:pt x="169271" y="2616400"/>
                  </a:cubicBezTo>
                  <a:lnTo>
                    <a:pt x="169271" y="2616400"/>
                  </a:lnTo>
                  <a:cubicBezTo>
                    <a:pt x="75785" y="2616400"/>
                    <a:pt x="0" y="2540615"/>
                    <a:pt x="0" y="2447130"/>
                  </a:cubicBezTo>
                  <a:lnTo>
                    <a:pt x="0" y="169271"/>
                  </a:lnTo>
                  <a:cubicBezTo>
                    <a:pt x="0" y="75785"/>
                    <a:pt x="75785" y="0"/>
                    <a:pt x="169271" y="0"/>
                  </a:cubicBezTo>
                  <a:close/>
                </a:path>
              </a:pathLst>
            </a:custGeom>
            <a:solidFill>
              <a:srgbClr val="38275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338541" cy="267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10800000">
            <a:off x="-917710" y="-1392889"/>
            <a:ext cx="1285399" cy="12294781"/>
            <a:chOff x="0" y="0"/>
            <a:chExt cx="338541" cy="323813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38541" cy="3238132"/>
            </a:xfrm>
            <a:custGeom>
              <a:avLst/>
              <a:gdLst/>
              <a:ahLst/>
              <a:cxnLst/>
              <a:rect l="l" t="t" r="r" b="b"/>
              <a:pathLst>
                <a:path w="338541" h="3238132">
                  <a:moveTo>
                    <a:pt x="169271" y="0"/>
                  </a:moveTo>
                  <a:lnTo>
                    <a:pt x="169271" y="0"/>
                  </a:lnTo>
                  <a:cubicBezTo>
                    <a:pt x="262756" y="0"/>
                    <a:pt x="338541" y="75785"/>
                    <a:pt x="338541" y="169271"/>
                  </a:cubicBezTo>
                  <a:lnTo>
                    <a:pt x="338541" y="3068861"/>
                  </a:lnTo>
                  <a:cubicBezTo>
                    <a:pt x="338541" y="3162347"/>
                    <a:pt x="262756" y="3238132"/>
                    <a:pt x="169271" y="3238132"/>
                  </a:cubicBezTo>
                  <a:lnTo>
                    <a:pt x="169271" y="3238132"/>
                  </a:lnTo>
                  <a:cubicBezTo>
                    <a:pt x="75785" y="3238132"/>
                    <a:pt x="0" y="3162347"/>
                    <a:pt x="0" y="3068861"/>
                  </a:cubicBezTo>
                  <a:lnTo>
                    <a:pt x="0" y="169271"/>
                  </a:lnTo>
                  <a:cubicBezTo>
                    <a:pt x="0" y="75785"/>
                    <a:pt x="75785" y="0"/>
                    <a:pt x="169271" y="0"/>
                  </a:cubicBezTo>
                  <a:close/>
                </a:path>
              </a:pathLst>
            </a:custGeom>
            <a:solidFill>
              <a:srgbClr val="38275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338541" cy="32952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8037415" y="-1213644"/>
            <a:ext cx="1285399" cy="12294781"/>
            <a:chOff x="0" y="0"/>
            <a:chExt cx="338541" cy="323813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38541" cy="3238132"/>
            </a:xfrm>
            <a:custGeom>
              <a:avLst/>
              <a:gdLst/>
              <a:ahLst/>
              <a:cxnLst/>
              <a:rect l="l" t="t" r="r" b="b"/>
              <a:pathLst>
                <a:path w="338541" h="3238132">
                  <a:moveTo>
                    <a:pt x="169271" y="0"/>
                  </a:moveTo>
                  <a:lnTo>
                    <a:pt x="169271" y="0"/>
                  </a:lnTo>
                  <a:cubicBezTo>
                    <a:pt x="262756" y="0"/>
                    <a:pt x="338541" y="75785"/>
                    <a:pt x="338541" y="169271"/>
                  </a:cubicBezTo>
                  <a:lnTo>
                    <a:pt x="338541" y="3068861"/>
                  </a:lnTo>
                  <a:cubicBezTo>
                    <a:pt x="338541" y="3162347"/>
                    <a:pt x="262756" y="3238132"/>
                    <a:pt x="169271" y="3238132"/>
                  </a:cubicBezTo>
                  <a:lnTo>
                    <a:pt x="169271" y="3238132"/>
                  </a:lnTo>
                  <a:cubicBezTo>
                    <a:pt x="75785" y="3238132"/>
                    <a:pt x="0" y="3162347"/>
                    <a:pt x="0" y="3068861"/>
                  </a:cubicBezTo>
                  <a:lnTo>
                    <a:pt x="0" y="169271"/>
                  </a:lnTo>
                  <a:cubicBezTo>
                    <a:pt x="0" y="75785"/>
                    <a:pt x="75785" y="0"/>
                    <a:pt x="169271" y="0"/>
                  </a:cubicBezTo>
                  <a:close/>
                </a:path>
              </a:pathLst>
            </a:custGeom>
            <a:solidFill>
              <a:srgbClr val="382752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338541" cy="32952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6806075" y="2234426"/>
            <a:ext cx="10453225" cy="7023874"/>
          </a:xfrm>
          <a:custGeom>
            <a:avLst/>
            <a:gdLst/>
            <a:ahLst/>
            <a:cxnLst/>
            <a:rect l="l" t="t" r="r" b="b"/>
            <a:pathLst>
              <a:path w="10453225" h="7023874">
                <a:moveTo>
                  <a:pt x="0" y="0"/>
                </a:moveTo>
                <a:lnTo>
                  <a:pt x="10453225" y="0"/>
                </a:lnTo>
                <a:lnTo>
                  <a:pt x="10453225" y="7023874"/>
                </a:lnTo>
                <a:lnTo>
                  <a:pt x="0" y="70238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26" r="-426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025842" y="92411"/>
            <a:ext cx="9427820" cy="91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INSIGHTS FROM DATA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12227" y="1627200"/>
            <a:ext cx="5634574" cy="7709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2"/>
              </a:lnSpc>
            </a:pPr>
            <a:endParaRPr/>
          </a:p>
          <a:p>
            <a:pPr algn="l">
              <a:lnSpc>
                <a:spcPts val="3422"/>
              </a:lnSpc>
            </a:pPr>
            <a:r>
              <a:rPr lang="en-US" sz="212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Traffic &amp; Revenue</a:t>
            </a:r>
          </a:p>
          <a:p>
            <a:pPr marL="458997" lvl="1" indent="-229499" algn="l">
              <a:lnSpc>
                <a:spcPts val="3422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Strong and consistent growth in sessions</a:t>
            </a:r>
          </a:p>
          <a:p>
            <a:pPr marL="458997" lvl="1" indent="-229499" algn="l">
              <a:lnSpc>
                <a:spcPts val="3422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Revenue is increasing steadily due to healthy AOV</a:t>
            </a:r>
          </a:p>
          <a:p>
            <a:pPr algn="l">
              <a:lnSpc>
                <a:spcPts val="3422"/>
              </a:lnSpc>
            </a:pPr>
            <a:r>
              <a:rPr lang="en-US" sz="212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Conversion</a:t>
            </a:r>
          </a:p>
          <a:p>
            <a:pPr marL="458997" lvl="1" indent="-229499" algn="l">
              <a:lnSpc>
                <a:spcPts val="3422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Overall conversion rate 6.83%</a:t>
            </a:r>
          </a:p>
          <a:p>
            <a:pPr marL="458997" lvl="1" indent="-229499" algn="l">
              <a:lnSpc>
                <a:spcPts val="3422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Major drop between sessions → completed orders</a:t>
            </a:r>
          </a:p>
          <a:p>
            <a:pPr algn="l">
              <a:lnSpc>
                <a:spcPts val="3422"/>
              </a:lnSpc>
            </a:pPr>
            <a:r>
              <a:rPr lang="en-US" sz="212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Devices</a:t>
            </a:r>
          </a:p>
          <a:p>
            <a:pPr marL="458997" lvl="1" indent="-229499" algn="l">
              <a:lnSpc>
                <a:spcPts val="3422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Desktop converts significantly better than mobile</a:t>
            </a:r>
          </a:p>
          <a:p>
            <a:pPr algn="l">
              <a:lnSpc>
                <a:spcPts val="3422"/>
              </a:lnSpc>
            </a:pPr>
            <a:r>
              <a:rPr lang="en-US" sz="212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Products</a:t>
            </a:r>
          </a:p>
          <a:p>
            <a:pPr marL="458997" lvl="1" indent="-229499" algn="l">
              <a:lnSpc>
                <a:spcPts val="3422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One product contributes the majority of revenue</a:t>
            </a:r>
          </a:p>
          <a:p>
            <a:pPr marL="458997" lvl="1" indent="-229499" algn="l">
              <a:lnSpc>
                <a:spcPts val="3422"/>
              </a:lnSpc>
              <a:buFont typeface="Arial"/>
              <a:buChar char="•"/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Limited product diversification</a:t>
            </a:r>
          </a:p>
          <a:p>
            <a:pPr algn="l">
              <a:lnSpc>
                <a:spcPts val="3422"/>
              </a:lnSpc>
            </a:pPr>
            <a:endParaRPr lang="en-US" sz="2125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5400000">
            <a:off x="8695744" y="-7053908"/>
            <a:ext cx="1285399" cy="15784215"/>
            <a:chOff x="0" y="0"/>
            <a:chExt cx="338541" cy="41571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8541" cy="4157160"/>
            </a:xfrm>
            <a:custGeom>
              <a:avLst/>
              <a:gdLst/>
              <a:ahLst/>
              <a:cxnLst/>
              <a:rect l="l" t="t" r="r" b="b"/>
              <a:pathLst>
                <a:path w="338541" h="4157160">
                  <a:moveTo>
                    <a:pt x="169271" y="0"/>
                  </a:moveTo>
                  <a:lnTo>
                    <a:pt x="169271" y="0"/>
                  </a:lnTo>
                  <a:cubicBezTo>
                    <a:pt x="262756" y="0"/>
                    <a:pt x="338541" y="75785"/>
                    <a:pt x="338541" y="169271"/>
                  </a:cubicBezTo>
                  <a:lnTo>
                    <a:pt x="338541" y="3987889"/>
                  </a:lnTo>
                  <a:cubicBezTo>
                    <a:pt x="338541" y="4081375"/>
                    <a:pt x="262756" y="4157160"/>
                    <a:pt x="169271" y="4157160"/>
                  </a:cubicBezTo>
                  <a:lnTo>
                    <a:pt x="169271" y="4157160"/>
                  </a:lnTo>
                  <a:cubicBezTo>
                    <a:pt x="75785" y="4157160"/>
                    <a:pt x="0" y="4081375"/>
                    <a:pt x="0" y="3987889"/>
                  </a:cubicBezTo>
                  <a:lnTo>
                    <a:pt x="0" y="169271"/>
                  </a:lnTo>
                  <a:cubicBezTo>
                    <a:pt x="0" y="75785"/>
                    <a:pt x="75785" y="0"/>
                    <a:pt x="169271" y="0"/>
                  </a:cubicBezTo>
                  <a:close/>
                </a:path>
              </a:pathLst>
            </a:custGeom>
            <a:solidFill>
              <a:srgbClr val="38275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338541" cy="4214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008688" y="313074"/>
            <a:ext cx="17314586" cy="91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CONVERSION FUNNEL &amp; BEHAVIOR INSIGHTS</a:t>
            </a:r>
          </a:p>
        </p:txBody>
      </p:sp>
      <p:grpSp>
        <p:nvGrpSpPr>
          <p:cNvPr id="7" name="Group 7"/>
          <p:cNvGrpSpPr/>
          <p:nvPr/>
        </p:nvGrpSpPr>
        <p:grpSpPr>
          <a:xfrm rot="-10800000">
            <a:off x="-917710" y="-1392889"/>
            <a:ext cx="1285399" cy="12294781"/>
            <a:chOff x="0" y="0"/>
            <a:chExt cx="338541" cy="323813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38541" cy="3238132"/>
            </a:xfrm>
            <a:custGeom>
              <a:avLst/>
              <a:gdLst/>
              <a:ahLst/>
              <a:cxnLst/>
              <a:rect l="l" t="t" r="r" b="b"/>
              <a:pathLst>
                <a:path w="338541" h="3238132">
                  <a:moveTo>
                    <a:pt x="169271" y="0"/>
                  </a:moveTo>
                  <a:lnTo>
                    <a:pt x="169271" y="0"/>
                  </a:lnTo>
                  <a:cubicBezTo>
                    <a:pt x="262756" y="0"/>
                    <a:pt x="338541" y="75785"/>
                    <a:pt x="338541" y="169271"/>
                  </a:cubicBezTo>
                  <a:lnTo>
                    <a:pt x="338541" y="3068861"/>
                  </a:lnTo>
                  <a:cubicBezTo>
                    <a:pt x="338541" y="3162347"/>
                    <a:pt x="262756" y="3238132"/>
                    <a:pt x="169271" y="3238132"/>
                  </a:cubicBezTo>
                  <a:lnTo>
                    <a:pt x="169271" y="3238132"/>
                  </a:lnTo>
                  <a:cubicBezTo>
                    <a:pt x="75785" y="3238132"/>
                    <a:pt x="0" y="3162347"/>
                    <a:pt x="0" y="3068861"/>
                  </a:cubicBezTo>
                  <a:lnTo>
                    <a:pt x="0" y="169271"/>
                  </a:lnTo>
                  <a:cubicBezTo>
                    <a:pt x="0" y="75785"/>
                    <a:pt x="75785" y="0"/>
                    <a:pt x="169271" y="0"/>
                  </a:cubicBezTo>
                  <a:close/>
                </a:path>
              </a:pathLst>
            </a:custGeom>
            <a:solidFill>
              <a:srgbClr val="3827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338541" cy="32952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10800000">
            <a:off x="17970198" y="-1056805"/>
            <a:ext cx="1285399" cy="12294781"/>
            <a:chOff x="0" y="0"/>
            <a:chExt cx="338541" cy="323813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38541" cy="3238132"/>
            </a:xfrm>
            <a:custGeom>
              <a:avLst/>
              <a:gdLst/>
              <a:ahLst/>
              <a:cxnLst/>
              <a:rect l="l" t="t" r="r" b="b"/>
              <a:pathLst>
                <a:path w="338541" h="3238132">
                  <a:moveTo>
                    <a:pt x="169271" y="0"/>
                  </a:moveTo>
                  <a:lnTo>
                    <a:pt x="169271" y="0"/>
                  </a:lnTo>
                  <a:cubicBezTo>
                    <a:pt x="262756" y="0"/>
                    <a:pt x="338541" y="75785"/>
                    <a:pt x="338541" y="169271"/>
                  </a:cubicBezTo>
                  <a:lnTo>
                    <a:pt x="338541" y="3068861"/>
                  </a:lnTo>
                  <a:cubicBezTo>
                    <a:pt x="338541" y="3162347"/>
                    <a:pt x="262756" y="3238132"/>
                    <a:pt x="169271" y="3238132"/>
                  </a:cubicBezTo>
                  <a:lnTo>
                    <a:pt x="169271" y="3238132"/>
                  </a:lnTo>
                  <a:cubicBezTo>
                    <a:pt x="75785" y="3238132"/>
                    <a:pt x="0" y="3162347"/>
                    <a:pt x="0" y="3068861"/>
                  </a:cubicBezTo>
                  <a:lnTo>
                    <a:pt x="0" y="169271"/>
                  </a:lnTo>
                  <a:cubicBezTo>
                    <a:pt x="0" y="75785"/>
                    <a:pt x="75785" y="0"/>
                    <a:pt x="169271" y="0"/>
                  </a:cubicBezTo>
                  <a:close/>
                </a:path>
              </a:pathLst>
            </a:custGeom>
            <a:solidFill>
              <a:srgbClr val="38275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338541" cy="32952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7539643" y="2186057"/>
            <a:ext cx="10085416" cy="6719409"/>
          </a:xfrm>
          <a:custGeom>
            <a:avLst/>
            <a:gdLst/>
            <a:ahLst/>
            <a:cxnLst/>
            <a:rect l="l" t="t" r="r" b="b"/>
            <a:pathLst>
              <a:path w="10085416" h="6719409">
                <a:moveTo>
                  <a:pt x="0" y="0"/>
                </a:moveTo>
                <a:lnTo>
                  <a:pt x="10085417" y="0"/>
                </a:lnTo>
                <a:lnTo>
                  <a:pt x="10085417" y="6719409"/>
                </a:lnTo>
                <a:lnTo>
                  <a:pt x="0" y="67194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612227" y="1598625"/>
            <a:ext cx="6679767" cy="7760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0"/>
              </a:lnSpc>
            </a:pPr>
            <a:r>
              <a:rPr lang="en-US" sz="296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Funnel Observation</a:t>
            </a:r>
          </a:p>
          <a:p>
            <a:pPr marL="641048" lvl="1" indent="-320524" algn="l">
              <a:lnSpc>
                <a:spcPts val="4780"/>
              </a:lnSpc>
              <a:buFont typeface="Arial"/>
              <a:buChar char="•"/>
            </a:pPr>
            <a:r>
              <a:rPr lang="en-US" sz="296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Significant drop-off from product pages to cart</a:t>
            </a:r>
          </a:p>
          <a:p>
            <a:pPr marL="641048" lvl="1" indent="-320524" algn="l">
              <a:lnSpc>
                <a:spcPts val="4780"/>
              </a:lnSpc>
              <a:buFont typeface="Arial"/>
              <a:buChar char="•"/>
            </a:pPr>
            <a:r>
              <a:rPr lang="en-US" sz="296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Another major drop during the checkout stages</a:t>
            </a:r>
          </a:p>
          <a:p>
            <a:pPr algn="l">
              <a:lnSpc>
                <a:spcPts val="4780"/>
              </a:lnSpc>
            </a:pPr>
            <a:r>
              <a:rPr lang="en-US" sz="296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User Behavior Insights</a:t>
            </a:r>
          </a:p>
          <a:p>
            <a:pPr marL="641048" lvl="1" indent="-320524" algn="l">
              <a:lnSpc>
                <a:spcPts val="4780"/>
              </a:lnSpc>
              <a:buFont typeface="Arial"/>
              <a:buChar char="•"/>
            </a:pPr>
            <a:r>
              <a:rPr lang="en-US" sz="296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Mobile users show higher abandonment</a:t>
            </a:r>
          </a:p>
          <a:p>
            <a:pPr marL="641048" lvl="1" indent="-320524" algn="l">
              <a:lnSpc>
                <a:spcPts val="4780"/>
              </a:lnSpc>
              <a:buFont typeface="Arial"/>
              <a:buChar char="•"/>
            </a:pPr>
            <a:r>
              <a:rPr lang="en-US" sz="296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First-time visitors convert less than repeat users</a:t>
            </a:r>
          </a:p>
          <a:p>
            <a:pPr algn="l">
              <a:lnSpc>
                <a:spcPts val="4780"/>
              </a:lnSpc>
            </a:pPr>
            <a:r>
              <a:rPr lang="en-US" sz="296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Key Bottleneck</a:t>
            </a:r>
          </a:p>
          <a:p>
            <a:pPr marL="641048" lvl="1" indent="-320524" algn="l">
              <a:lnSpc>
                <a:spcPts val="4780"/>
              </a:lnSpc>
              <a:buFont typeface="Arial"/>
              <a:buChar char="•"/>
            </a:pPr>
            <a:r>
              <a:rPr lang="en-US" sz="296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Cart and checkout experience</a:t>
            </a:r>
          </a:p>
          <a:p>
            <a:pPr algn="l">
              <a:lnSpc>
                <a:spcPts val="4780"/>
              </a:lnSpc>
            </a:pPr>
            <a:endParaRPr lang="en-US" sz="296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5400000">
            <a:off x="8695744" y="-7053908"/>
            <a:ext cx="1285399" cy="15784215"/>
            <a:chOff x="0" y="0"/>
            <a:chExt cx="338541" cy="41571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8541" cy="4157160"/>
            </a:xfrm>
            <a:custGeom>
              <a:avLst/>
              <a:gdLst/>
              <a:ahLst/>
              <a:cxnLst/>
              <a:rect l="l" t="t" r="r" b="b"/>
              <a:pathLst>
                <a:path w="338541" h="4157160">
                  <a:moveTo>
                    <a:pt x="169271" y="0"/>
                  </a:moveTo>
                  <a:lnTo>
                    <a:pt x="169271" y="0"/>
                  </a:lnTo>
                  <a:cubicBezTo>
                    <a:pt x="262756" y="0"/>
                    <a:pt x="338541" y="75785"/>
                    <a:pt x="338541" y="169271"/>
                  </a:cubicBezTo>
                  <a:lnTo>
                    <a:pt x="338541" y="3987889"/>
                  </a:lnTo>
                  <a:cubicBezTo>
                    <a:pt x="338541" y="4081375"/>
                    <a:pt x="262756" y="4157160"/>
                    <a:pt x="169271" y="4157160"/>
                  </a:cubicBezTo>
                  <a:lnTo>
                    <a:pt x="169271" y="4157160"/>
                  </a:lnTo>
                  <a:cubicBezTo>
                    <a:pt x="75785" y="4157160"/>
                    <a:pt x="0" y="4081375"/>
                    <a:pt x="0" y="3987889"/>
                  </a:cubicBezTo>
                  <a:lnTo>
                    <a:pt x="0" y="169271"/>
                  </a:lnTo>
                  <a:cubicBezTo>
                    <a:pt x="0" y="75785"/>
                    <a:pt x="75785" y="0"/>
                    <a:pt x="169271" y="0"/>
                  </a:cubicBezTo>
                  <a:close/>
                </a:path>
              </a:pathLst>
            </a:custGeom>
            <a:solidFill>
              <a:srgbClr val="38275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338541" cy="4214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008688" y="313074"/>
            <a:ext cx="17314586" cy="916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DASHBOARD HIGHLIGHTS (POWER BI)</a:t>
            </a:r>
          </a:p>
        </p:txBody>
      </p:sp>
      <p:grpSp>
        <p:nvGrpSpPr>
          <p:cNvPr id="7" name="Group 7"/>
          <p:cNvGrpSpPr/>
          <p:nvPr/>
        </p:nvGrpSpPr>
        <p:grpSpPr>
          <a:xfrm rot="-10800000">
            <a:off x="-917710" y="-1392889"/>
            <a:ext cx="1285399" cy="12294781"/>
            <a:chOff x="0" y="0"/>
            <a:chExt cx="338541" cy="323813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38541" cy="3238132"/>
            </a:xfrm>
            <a:custGeom>
              <a:avLst/>
              <a:gdLst/>
              <a:ahLst/>
              <a:cxnLst/>
              <a:rect l="l" t="t" r="r" b="b"/>
              <a:pathLst>
                <a:path w="338541" h="3238132">
                  <a:moveTo>
                    <a:pt x="169271" y="0"/>
                  </a:moveTo>
                  <a:lnTo>
                    <a:pt x="169271" y="0"/>
                  </a:lnTo>
                  <a:cubicBezTo>
                    <a:pt x="262756" y="0"/>
                    <a:pt x="338541" y="75785"/>
                    <a:pt x="338541" y="169271"/>
                  </a:cubicBezTo>
                  <a:lnTo>
                    <a:pt x="338541" y="3068861"/>
                  </a:lnTo>
                  <a:cubicBezTo>
                    <a:pt x="338541" y="3162347"/>
                    <a:pt x="262756" y="3238132"/>
                    <a:pt x="169271" y="3238132"/>
                  </a:cubicBezTo>
                  <a:lnTo>
                    <a:pt x="169271" y="3238132"/>
                  </a:lnTo>
                  <a:cubicBezTo>
                    <a:pt x="75785" y="3238132"/>
                    <a:pt x="0" y="3162347"/>
                    <a:pt x="0" y="3068861"/>
                  </a:cubicBezTo>
                  <a:lnTo>
                    <a:pt x="0" y="169271"/>
                  </a:lnTo>
                  <a:cubicBezTo>
                    <a:pt x="0" y="75785"/>
                    <a:pt x="75785" y="0"/>
                    <a:pt x="169271" y="0"/>
                  </a:cubicBezTo>
                  <a:close/>
                </a:path>
              </a:pathLst>
            </a:custGeom>
            <a:solidFill>
              <a:srgbClr val="3827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338541" cy="32952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10800000">
            <a:off x="17970198" y="-1056805"/>
            <a:ext cx="1285399" cy="12294781"/>
            <a:chOff x="0" y="0"/>
            <a:chExt cx="338541" cy="323813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38541" cy="3238132"/>
            </a:xfrm>
            <a:custGeom>
              <a:avLst/>
              <a:gdLst/>
              <a:ahLst/>
              <a:cxnLst/>
              <a:rect l="l" t="t" r="r" b="b"/>
              <a:pathLst>
                <a:path w="338541" h="3238132">
                  <a:moveTo>
                    <a:pt x="169271" y="0"/>
                  </a:moveTo>
                  <a:lnTo>
                    <a:pt x="169271" y="0"/>
                  </a:lnTo>
                  <a:cubicBezTo>
                    <a:pt x="262756" y="0"/>
                    <a:pt x="338541" y="75785"/>
                    <a:pt x="338541" y="169271"/>
                  </a:cubicBezTo>
                  <a:lnTo>
                    <a:pt x="338541" y="3068861"/>
                  </a:lnTo>
                  <a:cubicBezTo>
                    <a:pt x="338541" y="3162347"/>
                    <a:pt x="262756" y="3238132"/>
                    <a:pt x="169271" y="3238132"/>
                  </a:cubicBezTo>
                  <a:lnTo>
                    <a:pt x="169271" y="3238132"/>
                  </a:lnTo>
                  <a:cubicBezTo>
                    <a:pt x="75785" y="3238132"/>
                    <a:pt x="0" y="3162347"/>
                    <a:pt x="0" y="3068861"/>
                  </a:cubicBezTo>
                  <a:lnTo>
                    <a:pt x="0" y="169271"/>
                  </a:lnTo>
                  <a:cubicBezTo>
                    <a:pt x="0" y="75785"/>
                    <a:pt x="75785" y="0"/>
                    <a:pt x="169271" y="0"/>
                  </a:cubicBezTo>
                  <a:close/>
                </a:path>
              </a:pathLst>
            </a:custGeom>
            <a:solidFill>
              <a:srgbClr val="38275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338541" cy="32952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6847232" y="2043892"/>
            <a:ext cx="10383320" cy="6617148"/>
          </a:xfrm>
          <a:custGeom>
            <a:avLst/>
            <a:gdLst/>
            <a:ahLst/>
            <a:cxnLst/>
            <a:rect l="l" t="t" r="r" b="b"/>
            <a:pathLst>
              <a:path w="10383320" h="6617148">
                <a:moveTo>
                  <a:pt x="0" y="0"/>
                </a:moveTo>
                <a:lnTo>
                  <a:pt x="10383319" y="0"/>
                </a:lnTo>
                <a:lnTo>
                  <a:pt x="10383319" y="6617147"/>
                </a:lnTo>
                <a:lnTo>
                  <a:pt x="0" y="66171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481" t="-12181" r="-5302" b="-5727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897977" y="1608150"/>
            <a:ext cx="5626579" cy="8061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6"/>
              </a:lnSpc>
            </a:pPr>
            <a:r>
              <a:rPr lang="en-US" sz="250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Dashboard Features</a:t>
            </a:r>
          </a:p>
          <a:p>
            <a:pPr marL="539975" lvl="1" indent="-269988" algn="l">
              <a:lnSpc>
                <a:spcPts val="4026"/>
              </a:lnSpc>
              <a:buFont typeface="Arial"/>
              <a:buChar char="•"/>
            </a:pPr>
            <a:r>
              <a:rPr lang="en-US" sz="250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KPI Cards for instant performance view</a:t>
            </a:r>
          </a:p>
          <a:p>
            <a:pPr marL="539975" lvl="1" indent="-269988" algn="l">
              <a:lnSpc>
                <a:spcPts val="4026"/>
              </a:lnSpc>
              <a:buFont typeface="Arial"/>
              <a:buChar char="•"/>
            </a:pPr>
            <a:r>
              <a:rPr lang="en-US" sz="250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Monthly trends for sessions, orders, and revenue</a:t>
            </a:r>
          </a:p>
          <a:p>
            <a:pPr marL="539975" lvl="1" indent="-269988" algn="l">
              <a:lnSpc>
                <a:spcPts val="4026"/>
              </a:lnSpc>
              <a:buFont typeface="Arial"/>
              <a:buChar char="•"/>
            </a:pPr>
            <a:r>
              <a:rPr lang="en-US" sz="250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Channel-wise conversion comparison</a:t>
            </a:r>
          </a:p>
          <a:p>
            <a:pPr marL="539975" lvl="1" indent="-269988" algn="l">
              <a:lnSpc>
                <a:spcPts val="4026"/>
              </a:lnSpc>
              <a:buFont typeface="Arial"/>
              <a:buChar char="•"/>
            </a:pPr>
            <a:r>
              <a:rPr lang="en-US" sz="250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Device-level performance</a:t>
            </a:r>
          </a:p>
          <a:p>
            <a:pPr marL="539975" lvl="1" indent="-269988" algn="l">
              <a:lnSpc>
                <a:spcPts val="4026"/>
              </a:lnSpc>
              <a:buFont typeface="Arial"/>
              <a:buChar char="•"/>
            </a:pPr>
            <a:r>
              <a:rPr lang="en-US" sz="250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Product revenue contribution</a:t>
            </a:r>
          </a:p>
          <a:p>
            <a:pPr marL="539975" lvl="1" indent="-269988" algn="l">
              <a:lnSpc>
                <a:spcPts val="4026"/>
              </a:lnSpc>
              <a:buFont typeface="Arial"/>
              <a:buChar char="•"/>
            </a:pPr>
            <a:r>
              <a:rPr lang="en-US" sz="250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Refund rate tracking</a:t>
            </a:r>
          </a:p>
          <a:p>
            <a:pPr algn="l">
              <a:lnSpc>
                <a:spcPts val="4026"/>
              </a:lnSpc>
            </a:pPr>
            <a:r>
              <a:rPr lang="en-US" sz="250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Value</a:t>
            </a:r>
          </a:p>
          <a:p>
            <a:pPr marL="539975" lvl="1" indent="-269988" algn="l">
              <a:lnSpc>
                <a:spcPts val="4026"/>
              </a:lnSpc>
              <a:buFont typeface="Arial"/>
              <a:buChar char="•"/>
            </a:pPr>
            <a:r>
              <a:rPr lang="en-US" sz="250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Enables quick, data-driven decision making</a:t>
            </a:r>
          </a:p>
          <a:p>
            <a:pPr marL="539975" lvl="1" indent="-269988" algn="l">
              <a:lnSpc>
                <a:spcPts val="4026"/>
              </a:lnSpc>
              <a:buFont typeface="Arial"/>
              <a:buChar char="•"/>
            </a:pPr>
            <a:r>
              <a:rPr lang="en-US" sz="250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Easy to interpret for business stakeholders</a:t>
            </a:r>
          </a:p>
          <a:p>
            <a:pPr algn="l">
              <a:lnSpc>
                <a:spcPts val="4026"/>
              </a:lnSpc>
            </a:pPr>
            <a:endParaRPr lang="en-US" sz="250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5400000">
            <a:off x="8695744" y="-7053908"/>
            <a:ext cx="1285399" cy="15784215"/>
            <a:chOff x="0" y="0"/>
            <a:chExt cx="338541" cy="41571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8541" cy="4157160"/>
            </a:xfrm>
            <a:custGeom>
              <a:avLst/>
              <a:gdLst/>
              <a:ahLst/>
              <a:cxnLst/>
              <a:rect l="l" t="t" r="r" b="b"/>
              <a:pathLst>
                <a:path w="338541" h="4157160">
                  <a:moveTo>
                    <a:pt x="169271" y="0"/>
                  </a:moveTo>
                  <a:lnTo>
                    <a:pt x="169271" y="0"/>
                  </a:lnTo>
                  <a:cubicBezTo>
                    <a:pt x="262756" y="0"/>
                    <a:pt x="338541" y="75785"/>
                    <a:pt x="338541" y="169271"/>
                  </a:cubicBezTo>
                  <a:lnTo>
                    <a:pt x="338541" y="3987889"/>
                  </a:lnTo>
                  <a:cubicBezTo>
                    <a:pt x="338541" y="4081375"/>
                    <a:pt x="262756" y="4157160"/>
                    <a:pt x="169271" y="4157160"/>
                  </a:cubicBezTo>
                  <a:lnTo>
                    <a:pt x="169271" y="4157160"/>
                  </a:lnTo>
                  <a:cubicBezTo>
                    <a:pt x="75785" y="4157160"/>
                    <a:pt x="0" y="4081375"/>
                    <a:pt x="0" y="3987889"/>
                  </a:cubicBezTo>
                  <a:lnTo>
                    <a:pt x="0" y="169271"/>
                  </a:lnTo>
                  <a:cubicBezTo>
                    <a:pt x="0" y="75785"/>
                    <a:pt x="75785" y="0"/>
                    <a:pt x="169271" y="0"/>
                  </a:cubicBezTo>
                  <a:close/>
                </a:path>
              </a:pathLst>
            </a:custGeom>
            <a:solidFill>
              <a:srgbClr val="38275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338541" cy="4214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008688" y="313074"/>
            <a:ext cx="17314586" cy="1831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FINAL BUSINESS RECOMMENDATIONS</a:t>
            </a:r>
          </a:p>
          <a:p>
            <a:pPr algn="l">
              <a:lnSpc>
                <a:spcPts val="7212"/>
              </a:lnSpc>
            </a:pPr>
            <a:endParaRPr lang="en-US" sz="5151" b="1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7" name="Group 7"/>
          <p:cNvGrpSpPr/>
          <p:nvPr/>
        </p:nvGrpSpPr>
        <p:grpSpPr>
          <a:xfrm rot="-10800000">
            <a:off x="-917710" y="-1392889"/>
            <a:ext cx="1285399" cy="12294781"/>
            <a:chOff x="0" y="0"/>
            <a:chExt cx="338541" cy="323813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38541" cy="3238132"/>
            </a:xfrm>
            <a:custGeom>
              <a:avLst/>
              <a:gdLst/>
              <a:ahLst/>
              <a:cxnLst/>
              <a:rect l="l" t="t" r="r" b="b"/>
              <a:pathLst>
                <a:path w="338541" h="3238132">
                  <a:moveTo>
                    <a:pt x="169271" y="0"/>
                  </a:moveTo>
                  <a:lnTo>
                    <a:pt x="169271" y="0"/>
                  </a:lnTo>
                  <a:cubicBezTo>
                    <a:pt x="262756" y="0"/>
                    <a:pt x="338541" y="75785"/>
                    <a:pt x="338541" y="169271"/>
                  </a:cubicBezTo>
                  <a:lnTo>
                    <a:pt x="338541" y="3068861"/>
                  </a:lnTo>
                  <a:cubicBezTo>
                    <a:pt x="338541" y="3162347"/>
                    <a:pt x="262756" y="3238132"/>
                    <a:pt x="169271" y="3238132"/>
                  </a:cubicBezTo>
                  <a:lnTo>
                    <a:pt x="169271" y="3238132"/>
                  </a:lnTo>
                  <a:cubicBezTo>
                    <a:pt x="75785" y="3238132"/>
                    <a:pt x="0" y="3162347"/>
                    <a:pt x="0" y="3068861"/>
                  </a:cubicBezTo>
                  <a:lnTo>
                    <a:pt x="0" y="169271"/>
                  </a:lnTo>
                  <a:cubicBezTo>
                    <a:pt x="0" y="75785"/>
                    <a:pt x="75785" y="0"/>
                    <a:pt x="169271" y="0"/>
                  </a:cubicBezTo>
                  <a:close/>
                </a:path>
              </a:pathLst>
            </a:custGeom>
            <a:solidFill>
              <a:srgbClr val="3827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338541" cy="32952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10800000">
            <a:off x="17970198" y="-1056805"/>
            <a:ext cx="1285399" cy="12294781"/>
            <a:chOff x="0" y="0"/>
            <a:chExt cx="338541" cy="323813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38541" cy="3238132"/>
            </a:xfrm>
            <a:custGeom>
              <a:avLst/>
              <a:gdLst/>
              <a:ahLst/>
              <a:cxnLst/>
              <a:rect l="l" t="t" r="r" b="b"/>
              <a:pathLst>
                <a:path w="338541" h="3238132">
                  <a:moveTo>
                    <a:pt x="169271" y="0"/>
                  </a:moveTo>
                  <a:lnTo>
                    <a:pt x="169271" y="0"/>
                  </a:lnTo>
                  <a:cubicBezTo>
                    <a:pt x="262756" y="0"/>
                    <a:pt x="338541" y="75785"/>
                    <a:pt x="338541" y="169271"/>
                  </a:cubicBezTo>
                  <a:lnTo>
                    <a:pt x="338541" y="3068861"/>
                  </a:lnTo>
                  <a:cubicBezTo>
                    <a:pt x="338541" y="3162347"/>
                    <a:pt x="262756" y="3238132"/>
                    <a:pt x="169271" y="3238132"/>
                  </a:cubicBezTo>
                  <a:lnTo>
                    <a:pt x="169271" y="3238132"/>
                  </a:lnTo>
                  <a:cubicBezTo>
                    <a:pt x="75785" y="3238132"/>
                    <a:pt x="0" y="3162347"/>
                    <a:pt x="0" y="3068861"/>
                  </a:cubicBezTo>
                  <a:lnTo>
                    <a:pt x="0" y="169271"/>
                  </a:lnTo>
                  <a:cubicBezTo>
                    <a:pt x="0" y="75785"/>
                    <a:pt x="75785" y="0"/>
                    <a:pt x="169271" y="0"/>
                  </a:cubicBezTo>
                  <a:close/>
                </a:path>
              </a:pathLst>
            </a:custGeom>
            <a:solidFill>
              <a:srgbClr val="38275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338541" cy="32952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8271982" y="2144376"/>
            <a:ext cx="9474833" cy="6664501"/>
          </a:xfrm>
          <a:custGeom>
            <a:avLst/>
            <a:gdLst/>
            <a:ahLst/>
            <a:cxnLst/>
            <a:rect l="l" t="t" r="r" b="b"/>
            <a:pathLst>
              <a:path w="9474833" h="6664501">
                <a:moveTo>
                  <a:pt x="0" y="0"/>
                </a:moveTo>
                <a:lnTo>
                  <a:pt x="9474834" y="0"/>
                </a:lnTo>
                <a:lnTo>
                  <a:pt x="9474834" y="6664502"/>
                </a:lnTo>
                <a:lnTo>
                  <a:pt x="0" y="66645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834603" y="1608150"/>
            <a:ext cx="7213996" cy="8160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6"/>
              </a:lnSpc>
            </a:pPr>
            <a:r>
              <a:rPr lang="en-US" sz="253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Marketing</a:t>
            </a:r>
          </a:p>
          <a:p>
            <a:pPr marL="546723" lvl="1" indent="-273361" algn="l">
              <a:lnSpc>
                <a:spcPts val="4076"/>
              </a:lnSpc>
              <a:buFont typeface="Arial"/>
              <a:buChar char="•"/>
            </a:pPr>
            <a:r>
              <a:rPr lang="en-US" sz="25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Shift budget to high-converting channels</a:t>
            </a:r>
          </a:p>
          <a:p>
            <a:pPr marL="546723" lvl="1" indent="-273361" algn="l">
              <a:lnSpc>
                <a:spcPts val="4076"/>
              </a:lnSpc>
              <a:buFont typeface="Arial"/>
              <a:buChar char="•"/>
            </a:pPr>
            <a:r>
              <a:rPr lang="en-US" sz="25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Focus on brand campaigns with better ROI</a:t>
            </a:r>
          </a:p>
          <a:p>
            <a:pPr algn="l">
              <a:lnSpc>
                <a:spcPts val="4076"/>
              </a:lnSpc>
            </a:pPr>
            <a:r>
              <a:rPr lang="en-US" sz="253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Conversion Optimization</a:t>
            </a:r>
          </a:p>
          <a:p>
            <a:pPr marL="546723" lvl="1" indent="-273361" algn="l">
              <a:lnSpc>
                <a:spcPts val="4076"/>
              </a:lnSpc>
              <a:buFont typeface="Arial"/>
              <a:buChar char="•"/>
            </a:pPr>
            <a:r>
              <a:rPr lang="en-US" sz="25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Improve mobile UX and checkout flow</a:t>
            </a:r>
          </a:p>
          <a:p>
            <a:pPr marL="546723" lvl="1" indent="-273361" algn="l">
              <a:lnSpc>
                <a:spcPts val="4076"/>
              </a:lnSpc>
              <a:buFont typeface="Arial"/>
              <a:buChar char="•"/>
            </a:pPr>
            <a:r>
              <a:rPr lang="en-US" sz="25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Reduce cart friction and checkout steps</a:t>
            </a:r>
          </a:p>
          <a:p>
            <a:pPr algn="l">
              <a:lnSpc>
                <a:spcPts val="4076"/>
              </a:lnSpc>
            </a:pPr>
            <a:r>
              <a:rPr lang="en-US" sz="253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Revenue Growth</a:t>
            </a:r>
          </a:p>
          <a:p>
            <a:pPr marL="546723" lvl="1" indent="-273361" algn="l">
              <a:lnSpc>
                <a:spcPts val="4076"/>
              </a:lnSpc>
              <a:buFont typeface="Arial"/>
              <a:buChar char="•"/>
            </a:pPr>
            <a:r>
              <a:rPr lang="en-US" sz="25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Introduce product bundles</a:t>
            </a:r>
          </a:p>
          <a:p>
            <a:pPr marL="546723" lvl="1" indent="-273361" algn="l">
              <a:lnSpc>
                <a:spcPts val="4076"/>
              </a:lnSpc>
              <a:buFont typeface="Arial"/>
              <a:buChar char="•"/>
            </a:pPr>
            <a:r>
              <a:rPr lang="en-US" sz="25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Promote top-performing products strategically</a:t>
            </a:r>
          </a:p>
          <a:p>
            <a:pPr algn="l">
              <a:lnSpc>
                <a:spcPts val="4076"/>
              </a:lnSpc>
            </a:pPr>
            <a:r>
              <a:rPr lang="en-US" sz="253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Refund Reduction</a:t>
            </a:r>
          </a:p>
          <a:p>
            <a:pPr marL="546723" lvl="1" indent="-273361" algn="l">
              <a:lnSpc>
                <a:spcPts val="4076"/>
              </a:lnSpc>
              <a:buFont typeface="Arial"/>
              <a:buChar char="•"/>
            </a:pPr>
            <a:r>
              <a:rPr lang="en-US" sz="25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Improve product quality &amp; expectation setting</a:t>
            </a:r>
          </a:p>
          <a:p>
            <a:pPr marL="546723" lvl="1" indent="-273361" algn="l">
              <a:lnSpc>
                <a:spcPts val="4076"/>
              </a:lnSpc>
              <a:buFont typeface="Arial"/>
              <a:buChar char="•"/>
            </a:pPr>
            <a:r>
              <a:rPr lang="en-US" sz="25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Analyze refund reasons regularly</a:t>
            </a:r>
          </a:p>
          <a:p>
            <a:pPr algn="l">
              <a:lnSpc>
                <a:spcPts val="4076"/>
              </a:lnSpc>
            </a:pPr>
            <a:endParaRPr lang="en-US" sz="253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98500" y="362311"/>
            <a:ext cx="5245100" cy="1332778"/>
            <a:chOff x="0" y="0"/>
            <a:chExt cx="1381426" cy="3510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81426" cy="351020"/>
            </a:xfrm>
            <a:custGeom>
              <a:avLst/>
              <a:gdLst/>
              <a:ahLst/>
              <a:cxnLst/>
              <a:rect l="l" t="t" r="r" b="b"/>
              <a:pathLst>
                <a:path w="1381426" h="351020">
                  <a:moveTo>
                    <a:pt x="75277" y="0"/>
                  </a:moveTo>
                  <a:lnTo>
                    <a:pt x="1306148" y="0"/>
                  </a:lnTo>
                  <a:cubicBezTo>
                    <a:pt x="1326113" y="0"/>
                    <a:pt x="1345260" y="7931"/>
                    <a:pt x="1359377" y="22048"/>
                  </a:cubicBezTo>
                  <a:cubicBezTo>
                    <a:pt x="1373495" y="36166"/>
                    <a:pt x="1381426" y="55313"/>
                    <a:pt x="1381426" y="75277"/>
                  </a:cubicBezTo>
                  <a:lnTo>
                    <a:pt x="1381426" y="275742"/>
                  </a:lnTo>
                  <a:cubicBezTo>
                    <a:pt x="1381426" y="295707"/>
                    <a:pt x="1373495" y="314854"/>
                    <a:pt x="1359377" y="328971"/>
                  </a:cubicBezTo>
                  <a:cubicBezTo>
                    <a:pt x="1345260" y="343089"/>
                    <a:pt x="1326113" y="351020"/>
                    <a:pt x="1306148" y="351020"/>
                  </a:cubicBezTo>
                  <a:lnTo>
                    <a:pt x="75277" y="351020"/>
                  </a:lnTo>
                  <a:cubicBezTo>
                    <a:pt x="55313" y="351020"/>
                    <a:pt x="36166" y="343089"/>
                    <a:pt x="22048" y="328971"/>
                  </a:cubicBezTo>
                  <a:cubicBezTo>
                    <a:pt x="7931" y="314854"/>
                    <a:pt x="0" y="295707"/>
                    <a:pt x="0" y="275742"/>
                  </a:cubicBezTo>
                  <a:lnTo>
                    <a:pt x="0" y="75277"/>
                  </a:lnTo>
                  <a:cubicBezTo>
                    <a:pt x="0" y="55313"/>
                    <a:pt x="7931" y="36166"/>
                    <a:pt x="22048" y="22048"/>
                  </a:cubicBezTo>
                  <a:cubicBezTo>
                    <a:pt x="36166" y="7931"/>
                    <a:pt x="55313" y="0"/>
                    <a:pt x="75277" y="0"/>
                  </a:cubicBezTo>
                  <a:close/>
                </a:path>
              </a:pathLst>
            </a:custGeom>
            <a:solidFill>
              <a:srgbClr val="38275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381426" cy="4081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741400" y="362311"/>
            <a:ext cx="5118100" cy="1332778"/>
            <a:chOff x="0" y="0"/>
            <a:chExt cx="1347977" cy="3510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47977" cy="351020"/>
            </a:xfrm>
            <a:custGeom>
              <a:avLst/>
              <a:gdLst/>
              <a:ahLst/>
              <a:cxnLst/>
              <a:rect l="l" t="t" r="r" b="b"/>
              <a:pathLst>
                <a:path w="1347977" h="351020">
                  <a:moveTo>
                    <a:pt x="77145" y="0"/>
                  </a:moveTo>
                  <a:lnTo>
                    <a:pt x="1270832" y="0"/>
                  </a:lnTo>
                  <a:cubicBezTo>
                    <a:pt x="1291292" y="0"/>
                    <a:pt x="1310914" y="8128"/>
                    <a:pt x="1325382" y="22595"/>
                  </a:cubicBezTo>
                  <a:cubicBezTo>
                    <a:pt x="1339849" y="37063"/>
                    <a:pt x="1347977" y="56685"/>
                    <a:pt x="1347977" y="77145"/>
                  </a:cubicBezTo>
                  <a:lnTo>
                    <a:pt x="1347977" y="273874"/>
                  </a:lnTo>
                  <a:cubicBezTo>
                    <a:pt x="1347977" y="316480"/>
                    <a:pt x="1313438" y="351020"/>
                    <a:pt x="1270832" y="351020"/>
                  </a:cubicBezTo>
                  <a:lnTo>
                    <a:pt x="77145" y="351020"/>
                  </a:lnTo>
                  <a:cubicBezTo>
                    <a:pt x="34539" y="351020"/>
                    <a:pt x="0" y="316480"/>
                    <a:pt x="0" y="273874"/>
                  </a:cubicBezTo>
                  <a:lnTo>
                    <a:pt x="0" y="77145"/>
                  </a:lnTo>
                  <a:cubicBezTo>
                    <a:pt x="0" y="34539"/>
                    <a:pt x="34539" y="0"/>
                    <a:pt x="77145" y="0"/>
                  </a:cubicBezTo>
                  <a:close/>
                </a:path>
              </a:pathLst>
            </a:custGeom>
            <a:solidFill>
              <a:srgbClr val="38275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347977" cy="4081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102922" y="384953"/>
            <a:ext cx="8082155" cy="2477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18"/>
              </a:lnSpc>
            </a:pPr>
            <a:r>
              <a:rPr lang="en-US" sz="7084" b="1">
                <a:solidFill>
                  <a:srgbClr val="38275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 </a:t>
            </a:r>
          </a:p>
          <a:p>
            <a:pPr algn="ctr">
              <a:lnSpc>
                <a:spcPts val="9918"/>
              </a:lnSpc>
            </a:pPr>
            <a:endParaRPr lang="en-US" sz="7084" b="1">
              <a:solidFill>
                <a:srgbClr val="382752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76548" y="2567305"/>
            <a:ext cx="16782752" cy="5317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345"/>
              </a:lnSpc>
              <a:spcBef>
                <a:spcPct val="0"/>
              </a:spcBef>
            </a:pPr>
            <a:r>
              <a:rPr lang="en-US" sz="4532" b="1">
                <a:solidFill>
                  <a:srgbClr val="38275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  <a:p>
            <a:pPr marL="913861" lvl="1" indent="-456930" algn="just">
              <a:lnSpc>
                <a:spcPts val="5925"/>
              </a:lnSpc>
              <a:buFont typeface="Arial"/>
              <a:buChar char="•"/>
            </a:pPr>
            <a:r>
              <a:rPr lang="en-US" sz="4232">
                <a:solidFill>
                  <a:srgbClr val="3827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Growth opportunity lies in improving conversion efficiency, not just traffic</a:t>
            </a:r>
          </a:p>
          <a:p>
            <a:pPr marL="913861" lvl="1" indent="-456930" algn="just">
              <a:lnSpc>
                <a:spcPts val="5925"/>
              </a:lnSpc>
              <a:buFont typeface="Arial"/>
              <a:buChar char="•"/>
            </a:pPr>
            <a:r>
              <a:rPr lang="en-US" sz="4232">
                <a:solidFill>
                  <a:srgbClr val="3827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 conversion improvements can lead to large revenue gains</a:t>
            </a:r>
          </a:p>
          <a:p>
            <a:pPr marL="913861" lvl="1" indent="-456930" algn="just">
              <a:lnSpc>
                <a:spcPts val="5925"/>
              </a:lnSpc>
              <a:buFont typeface="Arial"/>
              <a:buChar char="•"/>
            </a:pPr>
            <a:r>
              <a:rPr lang="en-US" sz="4232">
                <a:solidFill>
                  <a:srgbClr val="3827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Dashboards bridge the gap between data and decisions</a:t>
            </a:r>
          </a:p>
          <a:p>
            <a:pPr marL="913861" lvl="1" indent="-456930" algn="just">
              <a:lnSpc>
                <a:spcPts val="5925"/>
              </a:lnSpc>
              <a:buFont typeface="Arial"/>
              <a:buChar char="•"/>
            </a:pPr>
            <a:r>
              <a:rPr lang="en-US" sz="4232">
                <a:solidFill>
                  <a:srgbClr val="38275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have building a model for future prediction for the upcoming year.</a:t>
            </a:r>
          </a:p>
          <a:p>
            <a:pPr algn="just">
              <a:lnSpc>
                <a:spcPts val="5925"/>
              </a:lnSpc>
              <a:spcBef>
                <a:spcPct val="0"/>
              </a:spcBef>
            </a:pPr>
            <a:endParaRPr lang="en-US" sz="4232">
              <a:solidFill>
                <a:srgbClr val="38275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540591" y="6896100"/>
            <a:ext cx="10654665" cy="2355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39"/>
              </a:lnSpc>
              <a:spcBef>
                <a:spcPct val="0"/>
              </a:spcBef>
            </a:pPr>
            <a:r>
              <a:rPr lang="en-US" sz="7099" b="1" dirty="0">
                <a:solidFill>
                  <a:srgbClr val="38275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</a:t>
            </a:r>
          </a:p>
          <a:p>
            <a:pPr algn="ctr">
              <a:lnSpc>
                <a:spcPts val="8679"/>
              </a:lnSpc>
              <a:spcBef>
                <a:spcPct val="0"/>
              </a:spcBef>
            </a:pPr>
            <a:r>
              <a:rPr lang="en-US" sz="6199" b="1" dirty="0">
                <a:solidFill>
                  <a:srgbClr val="38275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QUESTIONS &amp; DISCUSSION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535</Words>
  <Application>Microsoft Office PowerPoint</Application>
  <PresentationFormat>Custom</PresentationFormat>
  <Paragraphs>122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League Spartan</vt:lpstr>
      <vt:lpstr>Poppins Bold</vt:lpstr>
      <vt:lpstr>Times New Roman Bold</vt:lpstr>
      <vt:lpstr>Times New Roman</vt:lpstr>
      <vt:lpstr>Calibri</vt:lpstr>
      <vt:lpstr>Poppins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Salman Shaikh</cp:lastModifiedBy>
  <cp:revision>2</cp:revision>
  <dcterms:created xsi:type="dcterms:W3CDTF">2006-08-16T00:00:00Z</dcterms:created>
  <dcterms:modified xsi:type="dcterms:W3CDTF">2025-12-20T06:21:53Z</dcterms:modified>
  <dc:identifier>DAG78g2AnIw</dc:identifier>
</cp:coreProperties>
</file>